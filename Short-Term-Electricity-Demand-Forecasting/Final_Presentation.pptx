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6" r:id="rId6"/>
    <p:sldMasterId id="214748368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</p:sldIdLst>
  <p:sldSz cy="5143500" cx="9144000"/>
  <p:notesSz cx="6858000" cy="9144000"/>
  <p:embeddedFontLst>
    <p:embeddedFont>
      <p:font typeface="Figtree Black"/>
      <p:bold r:id="rId40"/>
      <p:boldItalic r:id="rId41"/>
    </p:embeddedFont>
    <p:embeddedFont>
      <p:font typeface="Hanken Grotesk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Figtree Light"/>
      <p:regular r:id="rId50"/>
      <p:bold r:id="rId51"/>
      <p:italic r:id="rId52"/>
      <p:boldItalic r:id="rId53"/>
    </p:embeddedFont>
    <p:embeddedFont>
      <p:font typeface="Figtree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8" roundtripDataSignature="AMtx7miQ0NuYdWjbvOOqsnM+/BiqZh0O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2082C7-EB36-4DC5-AD51-0F24448390E4}">
  <a:tblStyle styleId="{BD2082C7-EB36-4DC5-AD51-0F24448390E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EBEB"/>
          </a:solidFill>
        </a:fill>
      </a:tcStyle>
    </a:wholeTbl>
    <a:band1H>
      <a:tcTxStyle/>
      <a:tcStyle>
        <a:fill>
          <a:solidFill>
            <a:srgbClr val="D5D5D5"/>
          </a:solidFill>
        </a:fill>
      </a:tcStyle>
    </a:band1H>
    <a:band2H>
      <a:tcTxStyle/>
    </a:band2H>
    <a:band1V>
      <a:tcTxStyle/>
      <a:tcStyle>
        <a:fill>
          <a:solidFill>
            <a:srgbClr val="D5D5D5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4D4F94EF-05E0-43E9-A048-7E0F66738DE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Black-bold.fntdata"/><Relationship Id="rId42" Type="http://schemas.openxmlformats.org/officeDocument/2006/relationships/font" Target="fonts/HankenGrotesk-regular.fntdata"/><Relationship Id="rId41" Type="http://schemas.openxmlformats.org/officeDocument/2006/relationships/font" Target="fonts/FigtreeBlack-boldItalic.fntdata"/><Relationship Id="rId44" Type="http://schemas.openxmlformats.org/officeDocument/2006/relationships/font" Target="fonts/HankenGrotesk-italic.fntdata"/><Relationship Id="rId43" Type="http://schemas.openxmlformats.org/officeDocument/2006/relationships/font" Target="fonts/HankenGrotesk-bold.fntdata"/><Relationship Id="rId46" Type="http://schemas.openxmlformats.org/officeDocument/2006/relationships/font" Target="fonts/Lato-regular.fntdata"/><Relationship Id="rId45" Type="http://schemas.openxmlformats.org/officeDocument/2006/relationships/font" Target="fonts/HankenGrotesk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FigtreeLight-bold.fntdata"/><Relationship Id="rId50" Type="http://schemas.openxmlformats.org/officeDocument/2006/relationships/font" Target="fonts/FigtreeLight-regular.fntdata"/><Relationship Id="rId53" Type="http://schemas.openxmlformats.org/officeDocument/2006/relationships/font" Target="fonts/FigtreeLight-boldItalic.fntdata"/><Relationship Id="rId52" Type="http://schemas.openxmlformats.org/officeDocument/2006/relationships/font" Target="fonts/FigtreeLight-italic.fntdata"/><Relationship Id="rId11" Type="http://schemas.openxmlformats.org/officeDocument/2006/relationships/slide" Target="slides/slide3.xml"/><Relationship Id="rId55" Type="http://schemas.openxmlformats.org/officeDocument/2006/relationships/font" Target="fonts/FigtreeSemiBold-bold.fntdata"/><Relationship Id="rId10" Type="http://schemas.openxmlformats.org/officeDocument/2006/relationships/slide" Target="slides/slide2.xml"/><Relationship Id="rId54" Type="http://schemas.openxmlformats.org/officeDocument/2006/relationships/font" Target="fonts/FigtreeSemiBold-regular.fntdata"/><Relationship Id="rId13" Type="http://schemas.openxmlformats.org/officeDocument/2006/relationships/slide" Target="slides/slide5.xml"/><Relationship Id="rId57" Type="http://schemas.openxmlformats.org/officeDocument/2006/relationships/font" Target="fonts/FigtreeSemiBold-boldItalic.fntdata"/><Relationship Id="rId12" Type="http://schemas.openxmlformats.org/officeDocument/2006/relationships/slide" Target="slides/slide4.xml"/><Relationship Id="rId56" Type="http://schemas.openxmlformats.org/officeDocument/2006/relationships/font" Target="fonts/FigtreeSemiBold-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58" Type="http://customschemas.google.com/relationships/presentationmetadata" Target="meta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98845a964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d98845a964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d98845a964_9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d98845a964_9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98845a964_9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d98845a964_9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d98845a964_9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g3d98845a964_9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d98845a964_9_2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g3d98845a964_9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98845a964_9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g3d98845a964_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d98845a964_9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g3d98845a964_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d98845a964_9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3d98845a964_9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d98845a964_9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3d98845a964_9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d98845a964_9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g3d98845a964_9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d98845a964_9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g3d98845a964_9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d98845a964_9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g3d98845a964_9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d98845a964_9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3d98845a964_9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d98845a964_9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3d98845a964_9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d98845a964_9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3d98845a964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d9989b56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d9989b56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d9989b56e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d9989b56e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d9989b56e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d9989b56e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d9989b56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d9989b56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d98845a964_2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3d98845a96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Building on what </a:t>
            </a:r>
            <a:r>
              <a:rPr b="1" lang="en-US"/>
              <a:t>Zichao</a:t>
            </a:r>
            <a:r>
              <a:rPr lang="en-US"/>
              <a:t> just presented, we saw that regression and time series models capture </a:t>
            </a:r>
            <a:r>
              <a:rPr b="1" lang="en-US"/>
              <a:t>linear relationships</a:t>
            </a:r>
            <a:r>
              <a:rPr lang="en-US"/>
              <a:t> and </a:t>
            </a:r>
            <a:r>
              <a:rPr b="1" lang="en-US"/>
              <a:t>temporal structure</a:t>
            </a:r>
            <a:r>
              <a:rPr lang="en-US"/>
              <a:t> quite well.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However, electricity demand also involves more complex </a:t>
            </a:r>
            <a:r>
              <a:rPr b="1" lang="en-US"/>
              <a:t>nonlinear interactions</a:t>
            </a:r>
            <a:r>
              <a:rPr lang="en-US"/>
              <a:t> that these models may not fully capture.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So to address this, we extend the analysis using </a:t>
            </a:r>
            <a:r>
              <a:rPr b="1" lang="en-US"/>
              <a:t>machine learning and deep learning approaches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dab08d03cc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g3dab08d03c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We structure our approach into two main modelling directions: machine learning and deep learning.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For machine learning, we consider both standalone models and a hybrid approach.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In the hybrid setup, SARIMAX is used to generate a baseline forecast, and machine learning models are applied to the residuals to perform error correction.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For deep learning, we compare two models: ANN and LSTM.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This framework allows us to systematically compare how different approaches capture nonlinear and temporal patterns in electricity demand.”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dab08d03cc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dab08d03cc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dab08d03cc_8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dab08d03cc_8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dab08d03cc_8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dab08d03cc_8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dab08d03cc_8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3dab08d03cc_8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98845a964_2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3d98845a964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So overall, we are comparing traditional, machine learning, and deep learning approaches under the same evaluation framework.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This allows us to assess how different models capture nonlinear and temporal patterns in the data.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I’ll now hand over to Liyang, who will present the results and key findings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e686cc3737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g3e686cc373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d98845a964_8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d98845a964_8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d98845a964_8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3d98845a964_8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d98845a964_8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3d98845a964_8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d98845a964_8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d98845a964_8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0;p7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7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" name="Google Shape;12;p7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7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" name="Google Shape;14;p7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7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8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19" name="Google Shape;19;p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;p8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8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" name="Google Shape;22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4" name="Google Shape;24;p8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25" name="Google Shape;25;p8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p9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30" name="Google Shape;30;p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" name="Google Shape;31;p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" name="Google Shape;32;p9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" name="Google Shape;33;p9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10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37" name="Google Shape;37;p1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" name="Google Shape;38;p10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10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0" name="Google Shape;40;p10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11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44" name="Google Shape;44;p1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" name="Google Shape;45;p11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" name="Google Shape;46;p11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" name="Google Shape;47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4" name="Google Shape;54;p11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2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59" name="Google Shape;59;p12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60" name="Google Shape;60;p12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1" name="Google Shape;61;p12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2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3" name="Google Shape;63;p1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68" name="Google Shape;68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" name="Google Shape;69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1" name="Google Shape;71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3"/>
          <p:cNvSpPr txBox="1"/>
          <p:nvPr>
            <p:ph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13"/>
          <p:cNvSpPr txBox="1"/>
          <p:nvPr>
            <p:ph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9" name="Google Shape;79;p13"/>
          <p:cNvSpPr txBox="1"/>
          <p:nvPr>
            <p:ph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3"/>
          <p:cNvSpPr txBox="1"/>
          <p:nvPr>
            <p:ph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4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93" name="Google Shape;93;p14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" name="Google Shape;94;p14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4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" name="Google Shape;96;p14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4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15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02" name="Google Shape;102;p15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5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15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5" name="Google Shape;105;p15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06" name="Google Shape;106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" name="Google Shape;107;p15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15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9" name="Google Shape;109;p15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6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9" name="Google Shape;119;p16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" name="Google Shape;120;p16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6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2" name="Google Shape;122;p16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3" name="Google Shape;123;p16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127" name="Google Shape;127;p17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" name="Google Shape;128;p17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7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0" name="Google Shape;130;p17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135" name="Google Shape;135;p18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136" name="Google Shape;136;p18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7" name="Google Shape;137;p18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38" name="Google Shape;138;p18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9" name="Google Shape;139;p18"/>
          <p:cNvSpPr txBox="1"/>
          <p:nvPr>
            <p:ph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8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48" name="Google Shape;148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" name="Google Shape;149;p19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0" name="Google Shape;150;p19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9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21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159" name="Google Shape;159;p2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/>
                <a:buNone/>
              </a:pPr>
              <a:r>
                <a:t/>
              </a:r>
              <a:endParaRPr b="0" i="0" sz="3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160" name="Google Shape;160;p21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2" name="Google Shape;162;p21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22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66" name="Google Shape;166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" name="Google Shape;167;p22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2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9" name="Google Shape;16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" name="Google Shape;170;p22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74" name="Google Shape;174;p22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9" name="Google Shape;179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2" name="Google Shape;18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" name="Google Shape;183;p23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24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92" name="Google Shape;192;p2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" name="Google Shape;193;p24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24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5" name="Google Shape;19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" name="Google Shape;196;p24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4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4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3" name="Google Shape;203;p24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4" name="Google Shape;204;p24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6" name="Google Shape;206;p24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7" name="Google Shape;207;p24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25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11" name="Google Shape;211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" name="Google Shape;212;p25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25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4" name="Google Shape;21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26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219" name="Google Shape;219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26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2" name="Google Shape;222;p26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7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227" name="Google Shape;227;p2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" name="Google Shape;228;p27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27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0" name="Google Shape;230;p27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1" name="Google Shape;231;p27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28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235" name="Google Shape;235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" name="Google Shape;236;p28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28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8" name="Google Shape;238;p28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29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243" name="Google Shape;243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" name="Google Shape;244;p29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9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6" name="Google Shape;246;p29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7" name="Google Shape;247;p29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30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251" name="Google Shape;251;p30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" name="Google Shape;252;p30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30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4" name="Google Shape;254;p30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32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0" name="Google Shape;260;p3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2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62" name="Google Shape;262;p32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32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33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67" name="Google Shape;267;p3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33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33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98845a964_2_3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g3d98845a964_2_3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76" name="Google Shape;276;g3d98845a964_2_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" name="Google Shape;277;g3d98845a964_2_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g3d98845a964_2_3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g3d98845a964_2_3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98845a964_2_10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g3d98845a964_2_10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83" name="Google Shape;283;g3d98845a964_2_1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4" name="Google Shape;284;g3d98845a964_2_10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g3d98845a964_2_10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6" name="Google Shape;286;g3d98845a964_2_10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98845a964_2_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g3d98845a964_2_17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290" name="Google Shape;290;g3d98845a964_2_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1" name="Google Shape;291;g3d98845a964_2_17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g3d98845a964_2_17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3" name="Google Shape;293;g3d98845a964_2_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4" name="Google Shape;294;g3d98845a964_2_17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95" name="Google Shape;295;g3d98845a964_2_17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296" name="Google Shape;296;g3d98845a964_2_17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97" name="Google Shape;297;g3d98845a964_2_17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98845a964_2_28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g3d98845a964_2_28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301" name="Google Shape;301;g3d98845a964_2_28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g3d98845a964_2_28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g3d98845a964_2_28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4" name="Google Shape;304;g3d98845a964_2_28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305" name="Google Shape;305;g3d98845a964_2_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g3d98845a964_2_28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g3d98845a964_2_28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8" name="Google Shape;308;g3d98845a964_2_28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9" name="Google Shape;309;g3d98845a964_2_28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g3d98845a964_2_28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g3d98845a964_2_28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g3d98845a964_2_28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13" name="Google Shape;313;g3d98845a964_2_28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14" name="Google Shape;314;g3d98845a964_2_28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98845a964_2_4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g3d98845a964_2_4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318" name="Google Shape;318;g3d98845a964_2_4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9" name="Google Shape;319;g3d98845a964_2_4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0" name="Google Shape;320;g3d98845a964_2_4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1" name="Google Shape;321;g3d98845a964_2_4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g3d98845a964_2_4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98845a964_2_53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g3d98845a964_2_53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326" name="Google Shape;326;g3d98845a964_2_53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g3d98845a964_2_53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g3d98845a964_2_53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9" name="Google Shape;329;g3d98845a964_2_53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0" name="Google Shape;330;g3d98845a964_2_53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98845a964_2_62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g3d98845a964_2_62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335" name="Google Shape;335;g3d98845a964_2_6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" name="Google Shape;336;g3d98845a964_2_62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337" name="Google Shape;337;g3d98845a964_2_62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g3d98845a964_2_62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98845a964_2_6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g3d98845a964_2_6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342" name="Google Shape;342;g3d98845a964_2_6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g3d98845a964_2_6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g3d98845a964_2_6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98845a964_8_337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g3d98845a964_8_337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351" name="Google Shape;351;g3d98845a964_8_337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2" name="Google Shape;352;g3d98845a964_8_337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g3d98845a964_8_337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54" name="Google Shape;354;g3d98845a964_8_337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5" name="Google Shape;355;g3d98845a964_8_337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98845a964_8_34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" name="Google Shape;358;g3d98845a964_8_345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359" name="Google Shape;359;g3d98845a964_8_345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360" name="Google Shape;360;g3d98845a964_8_345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1" name="Google Shape;361;g3d98845a964_8_345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g3d98845a964_8_345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63" name="Google Shape;363;g3d98845a964_8_34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g3d98845a964_8_3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98845a964_8_354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7" name="Google Shape;367;g3d98845a964_8_354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368" name="Google Shape;368;g3d98845a964_8_35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9" name="Google Shape;369;g3d98845a964_8_35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g3d98845a964_8_354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1" name="Google Shape;371;g3d98845a964_8_354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g3d98845a964_8_354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g3d98845a964_8_354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g3d98845a964_8_354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g3d98845a964_8_354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g3d98845a964_8_354"/>
          <p:cNvSpPr txBox="1"/>
          <p:nvPr>
            <p:ph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g3d98845a964_8_354"/>
          <p:cNvSpPr txBox="1"/>
          <p:nvPr>
            <p:ph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8" name="Google Shape;378;g3d98845a964_8_354"/>
          <p:cNvSpPr txBox="1"/>
          <p:nvPr>
            <p:ph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9" name="Google Shape;379;g3d98845a964_8_354"/>
          <p:cNvSpPr txBox="1"/>
          <p:nvPr>
            <p:ph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0" name="Google Shape;380;g3d98845a964_8_354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g3d98845a964_8_354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g3d98845a964_8_354"/>
          <p:cNvSpPr txBox="1"/>
          <p:nvPr>
            <p:ph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3" name="Google Shape;383;g3d98845a964_8_354"/>
          <p:cNvSpPr txBox="1"/>
          <p:nvPr>
            <p:ph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4" name="Google Shape;384;g3d98845a964_8_354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5" name="Google Shape;385;g3d98845a964_8_354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6" name="Google Shape;386;g3d98845a964_8_354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7" name="Google Shape;387;g3d98845a964_8_354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8" name="Google Shape;388;g3d98845a964_8_354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9" name="Google Shape;389;g3d98845a964_8_354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98845a964_8_379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g3d98845a964_8_379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393" name="Google Shape;393;g3d98845a964_8_379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4" name="Google Shape;394;g3d98845a964_8_379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g3d98845a964_8_379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6" name="Google Shape;396;g3d98845a964_8_379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7" name="Google Shape;397;g3d98845a964_8_379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98" name="Google Shape;398;g3d98845a964_8_379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98845a964_8_388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g3d98845a964_8_388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402" name="Google Shape;402;g3d98845a964_8_388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g3d98845a964_8_388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g3d98845a964_8_388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5" name="Google Shape;405;g3d98845a964_8_388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406" name="Google Shape;406;g3d98845a964_8_38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7" name="Google Shape;407;g3d98845a964_8_388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g3d98845a964_8_388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09" name="Google Shape;409;g3d98845a964_8_388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0" name="Google Shape;410;g3d98845a964_8_388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g3d98845a964_8_388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g3d98845a964_8_388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g3d98845a964_8_388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14" name="Google Shape;414;g3d98845a964_8_388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15" name="Google Shape;415;g3d98845a964_8_388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98845a964_8_405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8" name="Google Shape;418;g3d98845a964_8_405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419" name="Google Shape;419;g3d98845a964_8_405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0" name="Google Shape;420;g3d98845a964_8_405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g3d98845a964_8_405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22" name="Google Shape;422;g3d98845a964_8_405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3" name="Google Shape;423;g3d98845a964_8_405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98845a964_8_413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g3d98845a964_8_413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427" name="Google Shape;427;g3d98845a964_8_413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" name="Google Shape;428;g3d98845a964_8_413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g3d98845a964_8_413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0" name="Google Shape;430;g3d98845a964_8_413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1" name="Google Shape;431;g3d98845a964_8_413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98845a964_8_421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g3d98845a964_8_421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435" name="Google Shape;435;g3d98845a964_8_421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436" name="Google Shape;436;g3d98845a964_8_421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7" name="Google Shape;437;g3d98845a964_8_421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438" name="Google Shape;438;g3d98845a964_8_421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9" name="Google Shape;439;g3d98845a964_8_421"/>
          <p:cNvSpPr txBox="1"/>
          <p:nvPr>
            <p:ph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g3d98845a964_8_421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1" name="Google Shape;441;g3d98845a964_8_421"/>
          <p:cNvSpPr txBox="1"/>
          <p:nvPr>
            <p:ph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2" name="Google Shape;442;g3d98845a964_8_421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g3d98845a964_8_421"/>
          <p:cNvSpPr txBox="1"/>
          <p:nvPr>
            <p:ph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4" name="Google Shape;444;g3d98845a964_8_421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98845a964_8_434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g3d98845a964_8_434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448" name="Google Shape;448;g3d98845a964_8_43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9" name="Google Shape;449;g3d98845a964_8_434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0" name="Google Shape;450;g3d98845a964_8_434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1" name="Google Shape;451;g3d98845a964_8_434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g3d98845a964_8_434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98845a964_8_44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g3d98845a964_8_442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98845a964_8_445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g3d98845a964_8_445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459" name="Google Shape;459;g3d98845a964_8_445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/>
                <a:buNone/>
              </a:pPr>
              <a:r>
                <a:t/>
              </a:r>
              <a:endParaRPr b="0" i="0" sz="3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460" name="Google Shape;460;g3d98845a964_8_445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1" name="Google Shape;461;g3d98845a964_8_445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2" name="Google Shape;462;g3d98845a964_8_445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98845a964_8_452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5" name="Google Shape;465;g3d98845a964_8_452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466" name="Google Shape;466;g3d98845a964_8_45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g3d98845a964_8_452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8" name="Google Shape;468;g3d98845a964_8_452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9" name="Google Shape;469;g3d98845a964_8_452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98845a964_8_459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2" name="Google Shape;472;g3d98845a964_8_459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473" name="Google Shape;473;g3d98845a964_8_45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4" name="Google Shape;474;g3d98845a964_8_459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g3d98845a964_8_459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6" name="Google Shape;476;g3d98845a964_8_4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7" name="Google Shape;477;g3d98845a964_8_459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g3d98845a964_8_459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g3d98845a964_8_459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g3d98845a964_8_459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81" name="Google Shape;481;g3d98845a964_8_459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82" name="Google Shape;482;g3d98845a964_8_459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98845a964_8_472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g3d98845a964_8_472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486" name="Google Shape;486;g3d98845a964_8_47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7" name="Google Shape;487;g3d98845a964_8_472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8" name="Google Shape;488;g3d98845a964_8_472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9" name="Google Shape;489;g3d98845a964_8_4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0" name="Google Shape;490;g3d98845a964_8_472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g3d98845a964_8_472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g3d98845a964_8_472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g3d98845a964_8_472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94" name="Google Shape;494;g3d98845a964_8_472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95" name="Google Shape;495;g3d98845a964_8_472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98845a964_8_485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g3d98845a964_8_485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499" name="Google Shape;499;g3d98845a964_8_48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0" name="Google Shape;500;g3d98845a964_8_485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1" name="Google Shape;501;g3d98845a964_8_485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2" name="Google Shape;502;g3d98845a964_8_48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3" name="Google Shape;503;g3d98845a964_8_485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g3d98845a964_8_485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g3d98845a964_8_485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g3d98845a964_8_485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g3d98845a964_8_485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g3d98845a964_8_485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g3d98845a964_8_485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10" name="Google Shape;510;g3d98845a964_8_485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11" name="Google Shape;511;g3d98845a964_8_485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12" name="Google Shape;512;g3d98845a964_8_485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13" name="Google Shape;513;g3d98845a964_8_485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14" name="Google Shape;514;g3d98845a964_8_485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98845a964_8_50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7" name="Google Shape;517;g3d98845a964_8_50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518" name="Google Shape;518;g3d98845a964_8_50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9" name="Google Shape;519;g3d98845a964_8_50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0" name="Google Shape;520;g3d98845a964_8_50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21" name="Google Shape;521;g3d98845a964_8_5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2" name="Google Shape;522;g3d98845a964_8_50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98845a964_8_512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5" name="Google Shape;525;g3d98845a964_8_51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526" name="Google Shape;526;g3d98845a964_8_51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7" name="Google Shape;527;g3d98845a964_8_512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8" name="Google Shape;528;g3d98845a964_8_512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29" name="Google Shape;529;g3d98845a964_8_512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98845a964_8_5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g3d98845a964_8_519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533" name="Google Shape;533;g3d98845a964_8_5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" name="Google Shape;534;g3d98845a964_8_519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5" name="Google Shape;535;g3d98845a964_8_519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36" name="Google Shape;536;g3d98845a964_8_5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7" name="Google Shape;537;g3d98845a964_8_519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538" name="Google Shape;538;g3d98845a964_8_519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539" name="Google Shape;539;g3d98845a964_8_519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40" name="Google Shape;540;g3d98845a964_8_519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98845a964_8_53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3" name="Google Shape;543;g3d98845a964_8_530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544" name="Google Shape;544;g3d98845a964_8_53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5" name="Google Shape;545;g3d98845a964_8_530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g3d98845a964_8_530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7" name="Google Shape;547;g3d98845a964_8_5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g3d98845a964_8_530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g3d98845a964_8_530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g3d98845a964_8_530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g3d98845a964_8_530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g3d98845a964_8_530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53" name="Google Shape;553;g3d98845a964_8_530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54" name="Google Shape;554;g3d98845a964_8_530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55" name="Google Shape;555;g3d98845a964_8_530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98845a964_8_54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g3d98845a964_8_545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59" name="Google Shape;559;g3d98845a964_8_54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0" name="Google Shape;560;g3d98845a964_8_54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1" name="Google Shape;561;g3d98845a964_8_545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62" name="Google Shape;562;g3d98845a964_8_545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3" name="Google Shape;563;g3d98845a964_8_545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98845a964_8_553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6" name="Google Shape;566;g3d98845a964_8_553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567" name="Google Shape;567;g3d98845a964_8_55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" name="Google Shape;568;g3d98845a964_8_55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9" name="Google Shape;569;g3d98845a964_8_553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0" name="Google Shape;570;g3d98845a964_8_553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1" name="Google Shape;571;g3d98845a964_8_553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98845a964_8_561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g3d98845a964_8_561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575" name="Google Shape;575;g3d98845a964_8_561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6" name="Google Shape;576;g3d98845a964_8_561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g3d98845a964_8_561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8" name="Google Shape;578;g3d98845a964_8_561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9" name="Google Shape;579;g3d98845a964_8_561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g3d98845a964_8_561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i="0" lang="en-US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i="0" lang="en-US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-US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98845a964_8_570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3" name="Google Shape;583;g3d98845a964_8_570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584" name="Google Shape;584;g3d98845a964_8_570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5" name="Google Shape;585;g3d98845a964_8_570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6" name="Google Shape;586;g3d98845a964_8_570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87" name="Google Shape;587;g3d98845a964_8_570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8" name="Google Shape;588;g3d98845a964_8_570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98845a964_8_57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2" name="Google Shape;592;g3d98845a964_8_579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593" name="Google Shape;593;g3d98845a964_8_57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4" name="Google Shape;594;g3d98845a964_8_579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595" name="Google Shape;595;g3d98845a964_8_579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6" name="Google Shape;596;g3d98845a964_8_579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d98845a964_8_586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g3d98845a964_8_586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600" name="Google Shape;600;g3d98845a964_8_58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1" name="Google Shape;601;g3d98845a964_8_586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g3d98845a964_8_586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4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10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61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b="0" i="0" sz="2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98845a964_2_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b="0" i="0" sz="2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72" name="Google Shape;272;g3d98845a964_2_0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98845a964_8_3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b="0" i="0" sz="2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47" name="Google Shape;347;g3d98845a964_8_334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98845a964_10_0"/>
          <p:cNvSpPr txBox="1"/>
          <p:nvPr>
            <p:ph type="ctrTitle"/>
          </p:nvPr>
        </p:nvSpPr>
        <p:spPr>
          <a:xfrm>
            <a:off x="891075" y="7367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ELECTRICITY DEMAND FORECASTING </a:t>
            </a:r>
            <a:endParaRPr/>
          </a:p>
        </p:txBody>
      </p:sp>
      <p:sp>
        <p:nvSpPr>
          <p:cNvPr id="608" name="Google Shape;608;g3d98845a964_10_0"/>
          <p:cNvSpPr txBox="1"/>
          <p:nvPr>
            <p:ph idx="1" type="subTitle"/>
          </p:nvPr>
        </p:nvSpPr>
        <p:spPr>
          <a:xfrm>
            <a:off x="965750" y="2053303"/>
            <a:ext cx="58974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Figtree SemiBold"/>
                <a:ea typeface="Figtree SemiBold"/>
                <a:cs typeface="Figtree SemiBold"/>
                <a:sym typeface="Figtree SemiBold"/>
              </a:rPr>
              <a:t>WHICH FORECASTING MODEL PROVIDES THE MOST ACCURATE PREDICTION FOR DAY-AHEAD ELECTRICITY DEMAND IN NSW USING HISTORICAL ELECTRICITY DEMAND AND WEATHER VARIABLES? </a:t>
            </a:r>
            <a:endParaRPr sz="8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609" name="Google Shape;609;g3d98845a964_10_0"/>
          <p:cNvSpPr txBox="1"/>
          <p:nvPr/>
        </p:nvSpPr>
        <p:spPr>
          <a:xfrm>
            <a:off x="965750" y="2782650"/>
            <a:ext cx="14655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Figtree Light"/>
                <a:ea typeface="Figtree Light"/>
                <a:cs typeface="Figtree Light"/>
                <a:sym typeface="Figtree Light"/>
              </a:rPr>
              <a:t>Group 8:</a:t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Figtree Light"/>
                <a:ea typeface="Figtree Light"/>
                <a:cs typeface="Figtree Light"/>
                <a:sym typeface="Figtree Light"/>
              </a:rPr>
              <a:t>Shanghong Dai</a:t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Figtree Light"/>
                <a:ea typeface="Figtree Light"/>
                <a:cs typeface="Figtree Light"/>
                <a:sym typeface="Figtree Light"/>
              </a:rPr>
              <a:t>Qiye Gong </a:t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Figtree Light"/>
                <a:ea typeface="Figtree Light"/>
                <a:cs typeface="Figtree Light"/>
                <a:sym typeface="Figtree Light"/>
              </a:rPr>
              <a:t>Zichao Luo </a:t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Figtree Light"/>
                <a:ea typeface="Figtree Light"/>
                <a:cs typeface="Figtree Light"/>
                <a:sym typeface="Figtree Light"/>
              </a:rPr>
              <a:t>Aayushi Jha </a:t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Figtree Light"/>
                <a:ea typeface="Figtree Light"/>
                <a:cs typeface="Figtree Light"/>
                <a:sym typeface="Figtree Light"/>
              </a:rPr>
              <a:t>Liyang Liu </a:t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Figtree Light"/>
                <a:ea typeface="Figtree Light"/>
                <a:cs typeface="Figtree Light"/>
                <a:sym typeface="Figtree Light"/>
              </a:rPr>
              <a:t>Supervisor: Wei Tian </a:t>
            </a:r>
            <a:endParaRPr sz="1100">
              <a:solidFill>
                <a:schemeClr val="dk1"/>
              </a:solidFill>
              <a:latin typeface="Figtree Light"/>
              <a:ea typeface="Figtree Light"/>
              <a:cs typeface="Figtree Light"/>
              <a:sym typeface="Figtre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98845a964_9_138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Elegant Black and White Thesis Defense</a:t>
            </a:r>
            <a:endParaRPr/>
          </a:p>
        </p:txBody>
      </p:sp>
      <p:sp>
        <p:nvSpPr>
          <p:cNvPr id="615" name="Google Shape;615;g3d98845a964_9_138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Here is where your presentation begins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6" name="Google Shape;616;g3d98845a964_9_138"/>
          <p:cNvSpPr/>
          <p:nvPr/>
        </p:nvSpPr>
        <p:spPr>
          <a:xfrm>
            <a:off x="0" y="9335"/>
            <a:ext cx="9144000" cy="5143500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d98845a964_9_138"/>
          <p:cNvSpPr txBox="1"/>
          <p:nvPr/>
        </p:nvSpPr>
        <p:spPr>
          <a:xfrm>
            <a:off x="640080" y="41148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Chapter </a:t>
            </a:r>
            <a:r>
              <a:rPr b="1" lang="en-US" sz="2700">
                <a:solidFill>
                  <a:srgbClr val="333333"/>
                </a:solidFill>
              </a:rPr>
              <a:t>1</a:t>
            </a: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700">
                <a:solidFill>
                  <a:srgbClr val="333333"/>
                </a:solidFill>
              </a:rPr>
              <a:t>Introduction</a:t>
            </a:r>
            <a:endParaRPr/>
          </a:p>
        </p:txBody>
      </p:sp>
      <p:sp>
        <p:nvSpPr>
          <p:cNvPr id="618" name="Google Shape;618;g3d98845a964_9_138"/>
          <p:cNvSpPr txBox="1"/>
          <p:nvPr/>
        </p:nvSpPr>
        <p:spPr>
          <a:xfrm>
            <a:off x="658368" y="1874519"/>
            <a:ext cx="12801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5400">
                <a:solidFill>
                  <a:srgbClr val="333333"/>
                </a:solidFill>
              </a:rPr>
              <a:t>1</a:t>
            </a:r>
            <a:endParaRPr/>
          </a:p>
        </p:txBody>
      </p:sp>
      <p:sp>
        <p:nvSpPr>
          <p:cNvPr id="619" name="Google Shape;619;g3d98845a964_9_138"/>
          <p:cNvSpPr/>
          <p:nvPr/>
        </p:nvSpPr>
        <p:spPr>
          <a:xfrm>
            <a:off x="2057400" y="2240280"/>
            <a:ext cx="5303400" cy="321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d98845a964_9_138"/>
          <p:cNvSpPr txBox="1"/>
          <p:nvPr/>
        </p:nvSpPr>
        <p:spPr>
          <a:xfrm>
            <a:off x="2026693" y="2370508"/>
            <a:ext cx="6141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600">
                <a:solidFill>
                  <a:srgbClr val="777777"/>
                </a:solidFill>
              </a:rPr>
              <a:t>Best Performance Model about Day-Ahead Electricity Demand </a:t>
            </a:r>
            <a:endParaRPr/>
          </a:p>
        </p:txBody>
      </p:sp>
      <p:sp>
        <p:nvSpPr>
          <p:cNvPr id="621" name="Google Shape;621;g3d98845a964_9_138"/>
          <p:cNvSpPr/>
          <p:nvPr/>
        </p:nvSpPr>
        <p:spPr>
          <a:xfrm>
            <a:off x="2372950" y="3313050"/>
            <a:ext cx="1845900" cy="97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Why This </a:t>
            </a:r>
            <a:endParaRPr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Topic Matters</a:t>
            </a:r>
            <a:endParaRPr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22" name="Google Shape;622;g3d98845a964_9_138"/>
          <p:cNvSpPr/>
          <p:nvPr/>
        </p:nvSpPr>
        <p:spPr>
          <a:xfrm>
            <a:off x="5012675" y="3313050"/>
            <a:ext cx="1845900" cy="97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Content Overview</a:t>
            </a:r>
            <a:endParaRPr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d98845a964_9_150"/>
          <p:cNvSpPr txBox="1"/>
          <p:nvPr>
            <p:ph type="title"/>
          </p:nvPr>
        </p:nvSpPr>
        <p:spPr>
          <a:xfrm>
            <a:off x="1239416" y="363300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Why This Topic Matters</a:t>
            </a:r>
            <a:endParaRPr/>
          </a:p>
        </p:txBody>
      </p:sp>
      <p:sp>
        <p:nvSpPr>
          <p:cNvPr id="628" name="Google Shape;628;g3d98845a964_9_150"/>
          <p:cNvSpPr txBox="1"/>
          <p:nvPr>
            <p:ph idx="1" type="subTitle"/>
          </p:nvPr>
        </p:nvSpPr>
        <p:spPr>
          <a:xfrm>
            <a:off x="1731050" y="1563801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Supports day-ahead scheduling and reserve decisions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Underestimation → risk of power shortages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Overestimation → unnecessary operating costs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Increasing importance with renewable energy integration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9" name="Google Shape;629;g3d98845a964_9_150"/>
          <p:cNvSpPr txBox="1"/>
          <p:nvPr>
            <p:ph idx="2" type="subTitle"/>
          </p:nvPr>
        </p:nvSpPr>
        <p:spPr>
          <a:xfrm>
            <a:off x="1731050" y="3445217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Power system stability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Cost efficiency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Energy management decisions</a:t>
            </a:r>
            <a:endParaRPr sz="1700"/>
          </a:p>
        </p:txBody>
      </p:sp>
      <p:sp>
        <p:nvSpPr>
          <p:cNvPr id="630" name="Google Shape;630;g3d98845a964_9_150"/>
          <p:cNvSpPr txBox="1"/>
          <p:nvPr>
            <p:ph idx="4" type="subTitle"/>
          </p:nvPr>
        </p:nvSpPr>
        <p:spPr>
          <a:xfrm>
            <a:off x="1731050" y="1164506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Why Accurate Electricity Demand Forecasting Matters</a:t>
            </a:r>
            <a:endParaRPr/>
          </a:p>
        </p:txBody>
      </p:sp>
      <p:sp>
        <p:nvSpPr>
          <p:cNvPr id="631" name="Google Shape;631;g3d98845a964_9_150"/>
          <p:cNvSpPr txBox="1"/>
          <p:nvPr>
            <p:ph idx="5" type="subTitle"/>
          </p:nvPr>
        </p:nvSpPr>
        <p:spPr>
          <a:xfrm>
            <a:off x="1731050" y="3040257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Real-world Impact</a:t>
            </a:r>
            <a:endParaRPr/>
          </a:p>
        </p:txBody>
      </p:sp>
      <p:grpSp>
        <p:nvGrpSpPr>
          <p:cNvPr id="632" name="Google Shape;632;g3d98845a964_9_150"/>
          <p:cNvGrpSpPr/>
          <p:nvPr/>
        </p:nvGrpSpPr>
        <p:grpSpPr>
          <a:xfrm>
            <a:off x="1129588" y="3201194"/>
            <a:ext cx="293750" cy="345000"/>
            <a:chOff x="5596113" y="2520150"/>
            <a:chExt cx="293750" cy="345000"/>
          </a:xfrm>
        </p:grpSpPr>
        <p:sp>
          <p:nvSpPr>
            <p:cNvPr id="633" name="Google Shape;633;g3d98845a964_9_150"/>
            <p:cNvSpPr/>
            <p:nvPr/>
          </p:nvSpPr>
          <p:spPr>
            <a:xfrm>
              <a:off x="5768088" y="2747750"/>
              <a:ext cx="70500" cy="70500"/>
            </a:xfrm>
            <a:custGeom>
              <a:rect b="b" l="l" r="r" t="t"/>
              <a:pathLst>
                <a:path extrusionOk="0" h="2820" w="2820">
                  <a:moveTo>
                    <a:pt x="2389" y="0"/>
                  </a:moveTo>
                  <a:lnTo>
                    <a:pt x="1" y="2389"/>
                  </a:lnTo>
                  <a:lnTo>
                    <a:pt x="421" y="2819"/>
                  </a:lnTo>
                  <a:lnTo>
                    <a:pt x="2820" y="431"/>
                  </a:lnTo>
                  <a:lnTo>
                    <a:pt x="2389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d98845a964_9_150"/>
            <p:cNvSpPr/>
            <p:nvPr/>
          </p:nvSpPr>
          <p:spPr>
            <a:xfrm>
              <a:off x="5596113" y="2565000"/>
              <a:ext cx="244525" cy="300150"/>
            </a:xfrm>
            <a:custGeom>
              <a:rect b="b" l="l" r="r" t="t"/>
              <a:pathLst>
                <a:path extrusionOk="0" h="12006" w="9781">
                  <a:moveTo>
                    <a:pt x="9186" y="10211"/>
                  </a:moveTo>
                  <a:lnTo>
                    <a:pt x="9186" y="10816"/>
                  </a:lnTo>
                  <a:lnTo>
                    <a:pt x="9186" y="11411"/>
                  </a:lnTo>
                  <a:lnTo>
                    <a:pt x="1241" y="11411"/>
                  </a:lnTo>
                  <a:cubicBezTo>
                    <a:pt x="893" y="11411"/>
                    <a:pt x="637" y="11154"/>
                    <a:pt x="637" y="10857"/>
                  </a:cubicBezTo>
                  <a:cubicBezTo>
                    <a:pt x="596" y="10509"/>
                    <a:pt x="893" y="10211"/>
                    <a:pt x="1190" y="10211"/>
                  </a:cubicBezTo>
                  <a:close/>
                  <a:moveTo>
                    <a:pt x="1149" y="1"/>
                  </a:moveTo>
                  <a:cubicBezTo>
                    <a:pt x="514" y="1"/>
                    <a:pt x="1" y="514"/>
                    <a:pt x="1" y="1200"/>
                  </a:cubicBezTo>
                  <a:lnTo>
                    <a:pt x="1" y="10816"/>
                  </a:lnTo>
                  <a:cubicBezTo>
                    <a:pt x="1" y="11452"/>
                    <a:pt x="555" y="12005"/>
                    <a:pt x="1190" y="12005"/>
                  </a:cubicBezTo>
                  <a:lnTo>
                    <a:pt x="9484" y="12005"/>
                  </a:lnTo>
                  <a:cubicBezTo>
                    <a:pt x="9648" y="12005"/>
                    <a:pt x="9781" y="11882"/>
                    <a:pt x="9781" y="11708"/>
                  </a:cubicBezTo>
                  <a:lnTo>
                    <a:pt x="9781" y="10816"/>
                  </a:lnTo>
                  <a:lnTo>
                    <a:pt x="9781" y="9914"/>
                  </a:lnTo>
                  <a:lnTo>
                    <a:pt x="9781" y="3804"/>
                  </a:lnTo>
                  <a:lnTo>
                    <a:pt x="9186" y="3804"/>
                  </a:lnTo>
                  <a:lnTo>
                    <a:pt x="9186" y="9658"/>
                  </a:lnTo>
                  <a:lnTo>
                    <a:pt x="1190" y="9658"/>
                  </a:lnTo>
                  <a:cubicBezTo>
                    <a:pt x="985" y="9658"/>
                    <a:pt x="770" y="9699"/>
                    <a:pt x="596" y="9791"/>
                  </a:cubicBezTo>
                  <a:lnTo>
                    <a:pt x="596" y="1200"/>
                  </a:lnTo>
                  <a:cubicBezTo>
                    <a:pt x="596" y="862"/>
                    <a:pt x="852" y="606"/>
                    <a:pt x="1149" y="606"/>
                  </a:cubicBezTo>
                  <a:lnTo>
                    <a:pt x="6275" y="606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d98845a964_9_150"/>
            <p:cNvSpPr/>
            <p:nvPr/>
          </p:nvSpPr>
          <p:spPr>
            <a:xfrm>
              <a:off x="5661213" y="2619600"/>
              <a:ext cx="100500" cy="14900"/>
            </a:xfrm>
            <a:custGeom>
              <a:rect b="b" l="l" r="r" t="t"/>
              <a:pathLst>
                <a:path extrusionOk="0" h="596" w="4020">
                  <a:moveTo>
                    <a:pt x="339" y="0"/>
                  </a:moveTo>
                  <a:cubicBezTo>
                    <a:pt x="175" y="0"/>
                    <a:pt x="1" y="175"/>
                    <a:pt x="42" y="339"/>
                  </a:cubicBezTo>
                  <a:cubicBezTo>
                    <a:pt x="42" y="513"/>
                    <a:pt x="216" y="595"/>
                    <a:pt x="339" y="595"/>
                  </a:cubicBezTo>
                  <a:lnTo>
                    <a:pt x="3712" y="595"/>
                  </a:lnTo>
                  <a:cubicBezTo>
                    <a:pt x="3886" y="595"/>
                    <a:pt x="4019" y="431"/>
                    <a:pt x="3968" y="257"/>
                  </a:cubicBezTo>
                  <a:cubicBezTo>
                    <a:pt x="3968" y="124"/>
                    <a:pt x="3845" y="0"/>
                    <a:pt x="367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d98845a964_9_150"/>
            <p:cNvSpPr/>
            <p:nvPr/>
          </p:nvSpPr>
          <p:spPr>
            <a:xfrm>
              <a:off x="5688888" y="2663425"/>
              <a:ext cx="60000" cy="14900"/>
            </a:xfrm>
            <a:custGeom>
              <a:rect b="b" l="l" r="r" t="t"/>
              <a:pathLst>
                <a:path extrusionOk="0" h="596" w="2400">
                  <a:moveTo>
                    <a:pt x="298" y="0"/>
                  </a:moveTo>
                  <a:cubicBezTo>
                    <a:pt x="134" y="0"/>
                    <a:pt x="1" y="165"/>
                    <a:pt x="42" y="339"/>
                  </a:cubicBezTo>
                  <a:cubicBezTo>
                    <a:pt x="42" y="472"/>
                    <a:pt x="175" y="595"/>
                    <a:pt x="350" y="595"/>
                  </a:cubicBezTo>
                  <a:lnTo>
                    <a:pt x="2051" y="595"/>
                  </a:lnTo>
                  <a:cubicBezTo>
                    <a:pt x="2267" y="595"/>
                    <a:pt x="2400" y="421"/>
                    <a:pt x="2349" y="257"/>
                  </a:cubicBezTo>
                  <a:cubicBezTo>
                    <a:pt x="2349" y="82"/>
                    <a:pt x="2226" y="0"/>
                    <a:pt x="205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d98845a964_9_150"/>
            <p:cNvSpPr/>
            <p:nvPr/>
          </p:nvSpPr>
          <p:spPr>
            <a:xfrm>
              <a:off x="5732713" y="2520150"/>
              <a:ext cx="157150" cy="158175"/>
            </a:xfrm>
            <a:custGeom>
              <a:rect b="b" l="l" r="r" t="t"/>
              <a:pathLst>
                <a:path extrusionOk="0" h="6327" w="6286">
                  <a:moveTo>
                    <a:pt x="3158" y="606"/>
                  </a:moveTo>
                  <a:cubicBezTo>
                    <a:pt x="3507" y="606"/>
                    <a:pt x="3722" y="821"/>
                    <a:pt x="3845" y="1026"/>
                  </a:cubicBezTo>
                  <a:cubicBezTo>
                    <a:pt x="3907" y="1127"/>
                    <a:pt x="3998" y="1175"/>
                    <a:pt x="4092" y="1175"/>
                  </a:cubicBezTo>
                  <a:cubicBezTo>
                    <a:pt x="4122" y="1175"/>
                    <a:pt x="4153" y="1169"/>
                    <a:pt x="4184" y="1159"/>
                  </a:cubicBezTo>
                  <a:cubicBezTo>
                    <a:pt x="4252" y="1150"/>
                    <a:pt x="4318" y="1145"/>
                    <a:pt x="4381" y="1145"/>
                  </a:cubicBezTo>
                  <a:cubicBezTo>
                    <a:pt x="4603" y="1145"/>
                    <a:pt x="4793" y="1207"/>
                    <a:pt x="4952" y="1375"/>
                  </a:cubicBezTo>
                  <a:cubicBezTo>
                    <a:pt x="5168" y="1590"/>
                    <a:pt x="5260" y="1887"/>
                    <a:pt x="5168" y="2143"/>
                  </a:cubicBezTo>
                  <a:cubicBezTo>
                    <a:pt x="5127" y="2266"/>
                    <a:pt x="5168" y="2441"/>
                    <a:pt x="5301" y="2482"/>
                  </a:cubicBezTo>
                  <a:cubicBezTo>
                    <a:pt x="5557" y="2656"/>
                    <a:pt x="5721" y="2912"/>
                    <a:pt x="5721" y="3169"/>
                  </a:cubicBezTo>
                  <a:cubicBezTo>
                    <a:pt x="5721" y="3466"/>
                    <a:pt x="5557" y="3722"/>
                    <a:pt x="5301" y="3896"/>
                  </a:cubicBezTo>
                  <a:cubicBezTo>
                    <a:pt x="5168" y="3937"/>
                    <a:pt x="5127" y="4060"/>
                    <a:pt x="5168" y="4194"/>
                  </a:cubicBezTo>
                  <a:cubicBezTo>
                    <a:pt x="5260" y="4491"/>
                    <a:pt x="5168" y="4788"/>
                    <a:pt x="4952" y="5004"/>
                  </a:cubicBezTo>
                  <a:cubicBezTo>
                    <a:pt x="4802" y="5132"/>
                    <a:pt x="4596" y="5210"/>
                    <a:pt x="4396" y="5210"/>
                  </a:cubicBezTo>
                  <a:cubicBezTo>
                    <a:pt x="4323" y="5210"/>
                    <a:pt x="4252" y="5200"/>
                    <a:pt x="4184" y="5178"/>
                  </a:cubicBezTo>
                  <a:cubicBezTo>
                    <a:pt x="4061" y="5178"/>
                    <a:pt x="3927" y="5219"/>
                    <a:pt x="3845" y="5342"/>
                  </a:cubicBezTo>
                  <a:cubicBezTo>
                    <a:pt x="3722" y="5598"/>
                    <a:pt x="3466" y="5731"/>
                    <a:pt x="3158" y="5731"/>
                  </a:cubicBezTo>
                  <a:cubicBezTo>
                    <a:pt x="2861" y="5731"/>
                    <a:pt x="2605" y="5598"/>
                    <a:pt x="2482" y="5342"/>
                  </a:cubicBezTo>
                  <a:cubicBezTo>
                    <a:pt x="2390" y="5219"/>
                    <a:pt x="2308" y="5178"/>
                    <a:pt x="2226" y="5178"/>
                  </a:cubicBezTo>
                  <a:lnTo>
                    <a:pt x="2133" y="5178"/>
                  </a:lnTo>
                  <a:cubicBezTo>
                    <a:pt x="2054" y="5200"/>
                    <a:pt x="1978" y="5210"/>
                    <a:pt x="1905" y="5210"/>
                  </a:cubicBezTo>
                  <a:cubicBezTo>
                    <a:pt x="1703" y="5210"/>
                    <a:pt x="1523" y="5132"/>
                    <a:pt x="1364" y="5004"/>
                  </a:cubicBezTo>
                  <a:cubicBezTo>
                    <a:pt x="1159" y="4788"/>
                    <a:pt x="1067" y="4491"/>
                    <a:pt x="1159" y="4194"/>
                  </a:cubicBezTo>
                  <a:cubicBezTo>
                    <a:pt x="1200" y="4060"/>
                    <a:pt x="1108" y="3937"/>
                    <a:pt x="1026" y="3896"/>
                  </a:cubicBezTo>
                  <a:cubicBezTo>
                    <a:pt x="770" y="3722"/>
                    <a:pt x="596" y="3466"/>
                    <a:pt x="596" y="3169"/>
                  </a:cubicBezTo>
                  <a:cubicBezTo>
                    <a:pt x="596" y="2912"/>
                    <a:pt x="770" y="2656"/>
                    <a:pt x="1026" y="2482"/>
                  </a:cubicBezTo>
                  <a:cubicBezTo>
                    <a:pt x="1108" y="2441"/>
                    <a:pt x="1200" y="2266"/>
                    <a:pt x="1159" y="2143"/>
                  </a:cubicBezTo>
                  <a:cubicBezTo>
                    <a:pt x="1067" y="1887"/>
                    <a:pt x="1159" y="1590"/>
                    <a:pt x="1364" y="1375"/>
                  </a:cubicBezTo>
                  <a:cubicBezTo>
                    <a:pt x="1532" y="1207"/>
                    <a:pt x="1724" y="1145"/>
                    <a:pt x="1941" y="1145"/>
                  </a:cubicBezTo>
                  <a:cubicBezTo>
                    <a:pt x="2003" y="1145"/>
                    <a:pt x="2067" y="1150"/>
                    <a:pt x="2133" y="1159"/>
                  </a:cubicBezTo>
                  <a:cubicBezTo>
                    <a:pt x="2166" y="1169"/>
                    <a:pt x="2198" y="1175"/>
                    <a:pt x="2230" y="1175"/>
                  </a:cubicBezTo>
                  <a:cubicBezTo>
                    <a:pt x="2325" y="1175"/>
                    <a:pt x="2412" y="1127"/>
                    <a:pt x="2482" y="1026"/>
                  </a:cubicBezTo>
                  <a:cubicBezTo>
                    <a:pt x="2605" y="770"/>
                    <a:pt x="2902" y="606"/>
                    <a:pt x="3158" y="606"/>
                  </a:cubicBezTo>
                  <a:close/>
                  <a:moveTo>
                    <a:pt x="3210" y="1"/>
                  </a:moveTo>
                  <a:cubicBezTo>
                    <a:pt x="2779" y="1"/>
                    <a:pt x="2349" y="216"/>
                    <a:pt x="2051" y="565"/>
                  </a:cubicBezTo>
                  <a:cubicBezTo>
                    <a:pt x="1998" y="558"/>
                    <a:pt x="1944" y="554"/>
                    <a:pt x="1889" y="554"/>
                  </a:cubicBezTo>
                  <a:cubicBezTo>
                    <a:pt x="1554" y="554"/>
                    <a:pt x="1200" y="688"/>
                    <a:pt x="944" y="944"/>
                  </a:cubicBezTo>
                  <a:cubicBezTo>
                    <a:pt x="647" y="1282"/>
                    <a:pt x="473" y="1672"/>
                    <a:pt x="555" y="2102"/>
                  </a:cubicBezTo>
                  <a:cubicBezTo>
                    <a:pt x="216" y="2359"/>
                    <a:pt x="1" y="2738"/>
                    <a:pt x="1" y="3169"/>
                  </a:cubicBezTo>
                  <a:cubicBezTo>
                    <a:pt x="1" y="3589"/>
                    <a:pt x="216" y="4019"/>
                    <a:pt x="555" y="4276"/>
                  </a:cubicBezTo>
                  <a:cubicBezTo>
                    <a:pt x="473" y="4706"/>
                    <a:pt x="647" y="5086"/>
                    <a:pt x="944" y="5383"/>
                  </a:cubicBezTo>
                  <a:cubicBezTo>
                    <a:pt x="1211" y="5659"/>
                    <a:pt x="1586" y="5820"/>
                    <a:pt x="1964" y="5820"/>
                  </a:cubicBezTo>
                  <a:cubicBezTo>
                    <a:pt x="2007" y="5820"/>
                    <a:pt x="2050" y="5818"/>
                    <a:pt x="2092" y="5813"/>
                  </a:cubicBezTo>
                  <a:cubicBezTo>
                    <a:pt x="2349" y="6111"/>
                    <a:pt x="2738" y="6326"/>
                    <a:pt x="3158" y="6326"/>
                  </a:cubicBezTo>
                  <a:cubicBezTo>
                    <a:pt x="3589" y="6326"/>
                    <a:pt x="3979" y="6111"/>
                    <a:pt x="4235" y="5813"/>
                  </a:cubicBezTo>
                  <a:cubicBezTo>
                    <a:pt x="4278" y="5818"/>
                    <a:pt x="4320" y="5820"/>
                    <a:pt x="4363" y="5820"/>
                  </a:cubicBezTo>
                  <a:cubicBezTo>
                    <a:pt x="4741" y="5820"/>
                    <a:pt x="5116" y="5659"/>
                    <a:pt x="5383" y="5383"/>
                  </a:cubicBezTo>
                  <a:cubicBezTo>
                    <a:pt x="5680" y="5086"/>
                    <a:pt x="5814" y="4706"/>
                    <a:pt x="5773" y="4276"/>
                  </a:cubicBezTo>
                  <a:cubicBezTo>
                    <a:pt x="6111" y="4019"/>
                    <a:pt x="6285" y="3589"/>
                    <a:pt x="6285" y="3169"/>
                  </a:cubicBezTo>
                  <a:cubicBezTo>
                    <a:pt x="6285" y="2738"/>
                    <a:pt x="6111" y="2359"/>
                    <a:pt x="5773" y="2102"/>
                  </a:cubicBezTo>
                  <a:cubicBezTo>
                    <a:pt x="5814" y="1672"/>
                    <a:pt x="5680" y="1282"/>
                    <a:pt x="5383" y="944"/>
                  </a:cubicBezTo>
                  <a:cubicBezTo>
                    <a:pt x="5127" y="688"/>
                    <a:pt x="4773" y="554"/>
                    <a:pt x="4412" y="554"/>
                  </a:cubicBezTo>
                  <a:cubicBezTo>
                    <a:pt x="4353" y="554"/>
                    <a:pt x="4294" y="558"/>
                    <a:pt x="4235" y="565"/>
                  </a:cubicBezTo>
                  <a:cubicBezTo>
                    <a:pt x="3979" y="216"/>
                    <a:pt x="3589" y="1"/>
                    <a:pt x="321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d98845a964_9_150"/>
            <p:cNvSpPr/>
            <p:nvPr/>
          </p:nvSpPr>
          <p:spPr>
            <a:xfrm>
              <a:off x="5787313" y="2575525"/>
              <a:ext cx="48975" cy="48450"/>
            </a:xfrm>
            <a:custGeom>
              <a:rect b="b" l="l" r="r" t="t"/>
              <a:pathLst>
                <a:path extrusionOk="0" h="1938" w="1959">
                  <a:moveTo>
                    <a:pt x="1620" y="0"/>
                  </a:moveTo>
                  <a:cubicBezTo>
                    <a:pt x="1546" y="0"/>
                    <a:pt x="1472" y="31"/>
                    <a:pt x="1405" y="93"/>
                  </a:cubicBezTo>
                  <a:lnTo>
                    <a:pt x="124" y="1425"/>
                  </a:lnTo>
                  <a:cubicBezTo>
                    <a:pt x="1" y="1548"/>
                    <a:pt x="1" y="1722"/>
                    <a:pt x="124" y="1845"/>
                  </a:cubicBezTo>
                  <a:cubicBezTo>
                    <a:pt x="165" y="1887"/>
                    <a:pt x="257" y="1938"/>
                    <a:pt x="339" y="1938"/>
                  </a:cubicBezTo>
                  <a:cubicBezTo>
                    <a:pt x="380" y="1938"/>
                    <a:pt x="462" y="1887"/>
                    <a:pt x="513" y="1845"/>
                  </a:cubicBezTo>
                  <a:lnTo>
                    <a:pt x="1836" y="523"/>
                  </a:lnTo>
                  <a:cubicBezTo>
                    <a:pt x="1959" y="400"/>
                    <a:pt x="1959" y="226"/>
                    <a:pt x="1836" y="93"/>
                  </a:cubicBezTo>
                  <a:cubicBezTo>
                    <a:pt x="1769" y="31"/>
                    <a:pt x="1695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d98845a964_9_150"/>
            <p:cNvSpPr/>
            <p:nvPr/>
          </p:nvSpPr>
          <p:spPr>
            <a:xfrm>
              <a:off x="5780913" y="2570400"/>
              <a:ext cx="17950" cy="15150"/>
            </a:xfrm>
            <a:custGeom>
              <a:rect b="b" l="l" r="r" t="t"/>
              <a:pathLst>
                <a:path extrusionOk="0" h="606" w="718">
                  <a:moveTo>
                    <a:pt x="339" y="0"/>
                  </a:moveTo>
                  <a:cubicBezTo>
                    <a:pt x="257" y="0"/>
                    <a:pt x="164" y="41"/>
                    <a:pt x="123" y="133"/>
                  </a:cubicBezTo>
                  <a:cubicBezTo>
                    <a:pt x="0" y="390"/>
                    <a:pt x="123" y="605"/>
                    <a:pt x="339" y="605"/>
                  </a:cubicBezTo>
                  <a:cubicBezTo>
                    <a:pt x="554" y="605"/>
                    <a:pt x="718" y="390"/>
                    <a:pt x="636" y="174"/>
                  </a:cubicBezTo>
                  <a:cubicBezTo>
                    <a:pt x="595" y="92"/>
                    <a:pt x="462" y="0"/>
                    <a:pt x="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d98845a964_9_150"/>
            <p:cNvSpPr/>
            <p:nvPr/>
          </p:nvSpPr>
          <p:spPr>
            <a:xfrm>
              <a:off x="5824488" y="2614225"/>
              <a:ext cx="18200" cy="14875"/>
            </a:xfrm>
            <a:custGeom>
              <a:rect b="b" l="l" r="r" t="t"/>
              <a:pathLst>
                <a:path extrusionOk="0" h="595" w="728">
                  <a:moveTo>
                    <a:pt x="349" y="0"/>
                  </a:moveTo>
                  <a:cubicBezTo>
                    <a:pt x="256" y="0"/>
                    <a:pt x="174" y="41"/>
                    <a:pt x="92" y="133"/>
                  </a:cubicBezTo>
                  <a:cubicBezTo>
                    <a:pt x="0" y="390"/>
                    <a:pt x="133" y="595"/>
                    <a:pt x="349" y="595"/>
                  </a:cubicBezTo>
                  <a:cubicBezTo>
                    <a:pt x="564" y="595"/>
                    <a:pt x="728" y="390"/>
                    <a:pt x="646" y="174"/>
                  </a:cubicBezTo>
                  <a:cubicBezTo>
                    <a:pt x="605" y="41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1" name="Google Shape;641;g3d98845a964_9_150"/>
          <p:cNvGrpSpPr/>
          <p:nvPr/>
        </p:nvGrpSpPr>
        <p:grpSpPr>
          <a:xfrm>
            <a:off x="1104613" y="1334613"/>
            <a:ext cx="343700" cy="343725"/>
            <a:chOff x="5493613" y="1976825"/>
            <a:chExt cx="343700" cy="343725"/>
          </a:xfrm>
        </p:grpSpPr>
        <p:sp>
          <p:nvSpPr>
            <p:cNvPr id="642" name="Google Shape;642;g3d98845a964_9_150"/>
            <p:cNvSpPr/>
            <p:nvPr/>
          </p:nvSpPr>
          <p:spPr>
            <a:xfrm>
              <a:off x="5493613" y="1976825"/>
              <a:ext cx="343700" cy="255050"/>
            </a:xfrm>
            <a:custGeom>
              <a:rect b="b" l="l" r="r" t="t"/>
              <a:pathLst>
                <a:path extrusionOk="0" h="10202" w="13748">
                  <a:moveTo>
                    <a:pt x="298" y="1"/>
                  </a:moveTo>
                  <a:cubicBezTo>
                    <a:pt x="123" y="1"/>
                    <a:pt x="0" y="124"/>
                    <a:pt x="0" y="257"/>
                  </a:cubicBezTo>
                  <a:lnTo>
                    <a:pt x="0" y="8202"/>
                  </a:lnTo>
                  <a:lnTo>
                    <a:pt x="0" y="9945"/>
                  </a:lnTo>
                  <a:cubicBezTo>
                    <a:pt x="0" y="10078"/>
                    <a:pt x="123" y="10201"/>
                    <a:pt x="298" y="10201"/>
                  </a:cubicBezTo>
                  <a:lnTo>
                    <a:pt x="4265" y="10201"/>
                  </a:lnTo>
                  <a:lnTo>
                    <a:pt x="4265" y="9647"/>
                  </a:lnTo>
                  <a:lnTo>
                    <a:pt x="595" y="9647"/>
                  </a:lnTo>
                  <a:lnTo>
                    <a:pt x="595" y="8499"/>
                  </a:lnTo>
                  <a:lnTo>
                    <a:pt x="4614" y="8499"/>
                  </a:lnTo>
                  <a:lnTo>
                    <a:pt x="4614" y="7894"/>
                  </a:lnTo>
                  <a:lnTo>
                    <a:pt x="595" y="7894"/>
                  </a:lnTo>
                  <a:lnTo>
                    <a:pt x="595" y="554"/>
                  </a:lnTo>
                  <a:lnTo>
                    <a:pt x="5126" y="554"/>
                  </a:lnTo>
                  <a:cubicBezTo>
                    <a:pt x="5680" y="554"/>
                    <a:pt x="6233" y="811"/>
                    <a:pt x="6572" y="1231"/>
                  </a:cubicBezTo>
                  <a:lnTo>
                    <a:pt x="6572" y="6869"/>
                  </a:lnTo>
                  <a:lnTo>
                    <a:pt x="7176" y="6869"/>
                  </a:lnTo>
                  <a:lnTo>
                    <a:pt x="7176" y="1231"/>
                  </a:lnTo>
                  <a:cubicBezTo>
                    <a:pt x="7515" y="811"/>
                    <a:pt x="8068" y="554"/>
                    <a:pt x="8622" y="554"/>
                  </a:cubicBezTo>
                  <a:lnTo>
                    <a:pt x="13153" y="554"/>
                  </a:lnTo>
                  <a:lnTo>
                    <a:pt x="13153" y="7894"/>
                  </a:lnTo>
                  <a:lnTo>
                    <a:pt x="9134" y="7894"/>
                  </a:lnTo>
                  <a:lnTo>
                    <a:pt x="9134" y="8499"/>
                  </a:lnTo>
                  <a:lnTo>
                    <a:pt x="13153" y="8499"/>
                  </a:lnTo>
                  <a:lnTo>
                    <a:pt x="13153" y="9647"/>
                  </a:lnTo>
                  <a:lnTo>
                    <a:pt x="9442" y="9647"/>
                  </a:lnTo>
                  <a:lnTo>
                    <a:pt x="9442" y="10201"/>
                  </a:lnTo>
                  <a:lnTo>
                    <a:pt x="13450" y="10201"/>
                  </a:lnTo>
                  <a:cubicBezTo>
                    <a:pt x="13625" y="10201"/>
                    <a:pt x="13748" y="10078"/>
                    <a:pt x="13748" y="9945"/>
                  </a:cubicBezTo>
                  <a:lnTo>
                    <a:pt x="13748" y="8202"/>
                  </a:lnTo>
                  <a:lnTo>
                    <a:pt x="13748" y="257"/>
                  </a:lnTo>
                  <a:cubicBezTo>
                    <a:pt x="13748" y="124"/>
                    <a:pt x="13625" y="1"/>
                    <a:pt x="13450" y="1"/>
                  </a:cubicBezTo>
                  <a:lnTo>
                    <a:pt x="8622" y="1"/>
                  </a:lnTo>
                  <a:cubicBezTo>
                    <a:pt x="7986" y="1"/>
                    <a:pt x="7340" y="257"/>
                    <a:pt x="6879" y="677"/>
                  </a:cubicBezTo>
                  <a:cubicBezTo>
                    <a:pt x="6408" y="257"/>
                    <a:pt x="576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d98845a964_9_150"/>
            <p:cNvSpPr/>
            <p:nvPr/>
          </p:nvSpPr>
          <p:spPr>
            <a:xfrm>
              <a:off x="5701713" y="2026800"/>
              <a:ext cx="92025" cy="15150"/>
            </a:xfrm>
            <a:custGeom>
              <a:rect b="b" l="l" r="r" t="t"/>
              <a:pathLst>
                <a:path extrusionOk="0" h="606" w="3681">
                  <a:moveTo>
                    <a:pt x="29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42" y="513"/>
                    <a:pt x="175" y="606"/>
                    <a:pt x="298" y="606"/>
                  </a:cubicBezTo>
                  <a:lnTo>
                    <a:pt x="3373" y="606"/>
                  </a:lnTo>
                  <a:cubicBezTo>
                    <a:pt x="3548" y="606"/>
                    <a:pt x="3681" y="472"/>
                    <a:pt x="3681" y="257"/>
                  </a:cubicBezTo>
                  <a:cubicBezTo>
                    <a:pt x="3630" y="134"/>
                    <a:pt x="350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d98845a964_9_150"/>
            <p:cNvSpPr/>
            <p:nvPr/>
          </p:nvSpPr>
          <p:spPr>
            <a:xfrm>
              <a:off x="5537438" y="202680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29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513"/>
                    <a:pt x="164" y="606"/>
                    <a:pt x="339" y="606"/>
                  </a:cubicBezTo>
                  <a:lnTo>
                    <a:pt x="3373" y="606"/>
                  </a:lnTo>
                  <a:cubicBezTo>
                    <a:pt x="3537" y="606"/>
                    <a:pt x="3711" y="472"/>
                    <a:pt x="3670" y="257"/>
                  </a:cubicBezTo>
                  <a:cubicBezTo>
                    <a:pt x="3629" y="134"/>
                    <a:pt x="3496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3d98845a964_9_150"/>
            <p:cNvSpPr/>
            <p:nvPr/>
          </p:nvSpPr>
          <p:spPr>
            <a:xfrm>
              <a:off x="5537438" y="207602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298" y="0"/>
                  </a:moveTo>
                  <a:cubicBezTo>
                    <a:pt x="123" y="0"/>
                    <a:pt x="0" y="174"/>
                    <a:pt x="41" y="338"/>
                  </a:cubicBezTo>
                  <a:cubicBezTo>
                    <a:pt x="41" y="513"/>
                    <a:pt x="164" y="595"/>
                    <a:pt x="339" y="595"/>
                  </a:cubicBezTo>
                  <a:lnTo>
                    <a:pt x="3373" y="595"/>
                  </a:lnTo>
                  <a:cubicBezTo>
                    <a:pt x="3537" y="595"/>
                    <a:pt x="3711" y="431"/>
                    <a:pt x="3670" y="256"/>
                  </a:cubicBezTo>
                  <a:cubicBezTo>
                    <a:pt x="3629" y="133"/>
                    <a:pt x="3496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3d98845a964_9_150"/>
            <p:cNvSpPr/>
            <p:nvPr/>
          </p:nvSpPr>
          <p:spPr>
            <a:xfrm>
              <a:off x="5537438" y="2125225"/>
              <a:ext cx="48975" cy="14900"/>
            </a:xfrm>
            <a:custGeom>
              <a:rect b="b" l="l" r="r" t="t"/>
              <a:pathLst>
                <a:path extrusionOk="0" h="596" w="1959">
                  <a:moveTo>
                    <a:pt x="298" y="0"/>
                  </a:moveTo>
                  <a:cubicBezTo>
                    <a:pt x="123" y="0"/>
                    <a:pt x="0" y="123"/>
                    <a:pt x="41" y="339"/>
                  </a:cubicBezTo>
                  <a:cubicBezTo>
                    <a:pt x="41" y="472"/>
                    <a:pt x="164" y="595"/>
                    <a:pt x="339" y="595"/>
                  </a:cubicBezTo>
                  <a:lnTo>
                    <a:pt x="1620" y="595"/>
                  </a:lnTo>
                  <a:cubicBezTo>
                    <a:pt x="1794" y="595"/>
                    <a:pt x="1958" y="421"/>
                    <a:pt x="1917" y="216"/>
                  </a:cubicBezTo>
                  <a:cubicBezTo>
                    <a:pt x="1876" y="82"/>
                    <a:pt x="1743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d98845a964_9_150"/>
            <p:cNvSpPr/>
            <p:nvPr/>
          </p:nvSpPr>
          <p:spPr>
            <a:xfrm>
              <a:off x="5701713" y="2076025"/>
              <a:ext cx="92025" cy="14875"/>
            </a:xfrm>
            <a:custGeom>
              <a:rect b="b" l="l" r="r" t="t"/>
              <a:pathLst>
                <a:path extrusionOk="0" h="595" w="3681">
                  <a:moveTo>
                    <a:pt x="298" y="0"/>
                  </a:moveTo>
                  <a:cubicBezTo>
                    <a:pt x="134" y="0"/>
                    <a:pt x="1" y="174"/>
                    <a:pt x="1" y="338"/>
                  </a:cubicBezTo>
                  <a:cubicBezTo>
                    <a:pt x="42" y="513"/>
                    <a:pt x="175" y="595"/>
                    <a:pt x="298" y="595"/>
                  </a:cubicBezTo>
                  <a:lnTo>
                    <a:pt x="3373" y="595"/>
                  </a:lnTo>
                  <a:cubicBezTo>
                    <a:pt x="3548" y="595"/>
                    <a:pt x="3681" y="431"/>
                    <a:pt x="3681" y="256"/>
                  </a:cubicBezTo>
                  <a:cubicBezTo>
                    <a:pt x="3630" y="133"/>
                    <a:pt x="3507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3d98845a964_9_150"/>
            <p:cNvSpPr/>
            <p:nvPr/>
          </p:nvSpPr>
          <p:spPr>
            <a:xfrm>
              <a:off x="5745538" y="2125225"/>
              <a:ext cx="48200" cy="14900"/>
            </a:xfrm>
            <a:custGeom>
              <a:rect b="b" l="l" r="r" t="t"/>
              <a:pathLst>
                <a:path extrusionOk="0" h="596" w="1928">
                  <a:moveTo>
                    <a:pt x="298" y="0"/>
                  </a:moveTo>
                  <a:cubicBezTo>
                    <a:pt x="134" y="0"/>
                    <a:pt x="1" y="123"/>
                    <a:pt x="1" y="339"/>
                  </a:cubicBezTo>
                  <a:cubicBezTo>
                    <a:pt x="42" y="472"/>
                    <a:pt x="175" y="595"/>
                    <a:pt x="298" y="595"/>
                  </a:cubicBezTo>
                  <a:lnTo>
                    <a:pt x="1620" y="595"/>
                  </a:lnTo>
                  <a:cubicBezTo>
                    <a:pt x="1795" y="595"/>
                    <a:pt x="1928" y="421"/>
                    <a:pt x="1928" y="216"/>
                  </a:cubicBezTo>
                  <a:cubicBezTo>
                    <a:pt x="1877" y="82"/>
                    <a:pt x="1754" y="0"/>
                    <a:pt x="162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d98845a964_9_150"/>
            <p:cNvSpPr/>
            <p:nvPr/>
          </p:nvSpPr>
          <p:spPr>
            <a:xfrm>
              <a:off x="5592788" y="2141125"/>
              <a:ext cx="180450" cy="179425"/>
            </a:xfrm>
            <a:custGeom>
              <a:rect b="b" l="l" r="r" t="t"/>
              <a:pathLst>
                <a:path extrusionOk="0" h="7177" w="7218">
                  <a:moveTo>
                    <a:pt x="2912" y="605"/>
                  </a:moveTo>
                  <a:cubicBezTo>
                    <a:pt x="4194" y="605"/>
                    <a:pt x="5260" y="1630"/>
                    <a:pt x="5260" y="2952"/>
                  </a:cubicBezTo>
                  <a:cubicBezTo>
                    <a:pt x="5260" y="4234"/>
                    <a:pt x="4194" y="5259"/>
                    <a:pt x="2912" y="5259"/>
                  </a:cubicBezTo>
                  <a:cubicBezTo>
                    <a:pt x="1631" y="5259"/>
                    <a:pt x="606" y="4234"/>
                    <a:pt x="606" y="2952"/>
                  </a:cubicBezTo>
                  <a:cubicBezTo>
                    <a:pt x="606" y="1630"/>
                    <a:pt x="1631" y="605"/>
                    <a:pt x="2912" y="605"/>
                  </a:cubicBezTo>
                  <a:close/>
                  <a:moveTo>
                    <a:pt x="2912" y="0"/>
                  </a:moveTo>
                  <a:cubicBezTo>
                    <a:pt x="1282" y="0"/>
                    <a:pt x="1" y="1322"/>
                    <a:pt x="1" y="2952"/>
                  </a:cubicBezTo>
                  <a:cubicBezTo>
                    <a:pt x="1" y="4531"/>
                    <a:pt x="1282" y="5854"/>
                    <a:pt x="2912" y="5854"/>
                  </a:cubicBezTo>
                  <a:cubicBezTo>
                    <a:pt x="3589" y="5854"/>
                    <a:pt x="4276" y="5597"/>
                    <a:pt x="4747" y="5167"/>
                  </a:cubicBezTo>
                  <a:lnTo>
                    <a:pt x="6664" y="7094"/>
                  </a:lnTo>
                  <a:cubicBezTo>
                    <a:pt x="6705" y="7176"/>
                    <a:pt x="6797" y="7176"/>
                    <a:pt x="6879" y="7176"/>
                  </a:cubicBezTo>
                  <a:cubicBezTo>
                    <a:pt x="6961" y="7176"/>
                    <a:pt x="7013" y="7176"/>
                    <a:pt x="7095" y="7094"/>
                  </a:cubicBezTo>
                  <a:cubicBezTo>
                    <a:pt x="7218" y="7012"/>
                    <a:pt x="7218" y="6797"/>
                    <a:pt x="7095" y="6663"/>
                  </a:cubicBezTo>
                  <a:lnTo>
                    <a:pt x="5167" y="4787"/>
                  </a:lnTo>
                  <a:cubicBezTo>
                    <a:pt x="5598" y="4275"/>
                    <a:pt x="5813" y="3629"/>
                    <a:pt x="5813" y="2952"/>
                  </a:cubicBezTo>
                  <a:cubicBezTo>
                    <a:pt x="5813" y="1322"/>
                    <a:pt x="4532" y="0"/>
                    <a:pt x="291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0" name="Google Shape;650;g3d98845a964_9_150"/>
          <p:cNvSpPr txBox="1"/>
          <p:nvPr>
            <p:ph idx="4294967295" type="title"/>
          </p:nvPr>
        </p:nvSpPr>
        <p:spPr>
          <a:xfrm>
            <a:off x="233255" y="230995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" name="Google Shape;655;g3d98845a964_9_176"/>
          <p:cNvCxnSpPr>
            <a:stCxn id="656" idx="3"/>
            <a:endCxn id="657" idx="1"/>
          </p:cNvCxnSpPr>
          <p:nvPr/>
        </p:nvCxnSpPr>
        <p:spPr>
          <a:xfrm>
            <a:off x="3042028" y="2360031"/>
            <a:ext cx="308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g3d98845a964_9_176"/>
          <p:cNvSpPr txBox="1"/>
          <p:nvPr>
            <p:ph type="title"/>
          </p:nvPr>
        </p:nvSpPr>
        <p:spPr>
          <a:xfrm>
            <a:off x="1146501" y="37967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/>
              <a:t>Electricity demand is mainly influenced by:</a:t>
            </a:r>
            <a:endParaRPr/>
          </a:p>
        </p:txBody>
      </p:sp>
      <p:sp>
        <p:nvSpPr>
          <p:cNvPr id="659" name="Google Shape;659;g3d98845a964_9_176"/>
          <p:cNvSpPr txBox="1"/>
          <p:nvPr/>
        </p:nvSpPr>
        <p:spPr>
          <a:xfrm>
            <a:off x="2082928" y="2795438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Calendar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60" name="Google Shape;660;g3d98845a964_9_176"/>
          <p:cNvSpPr txBox="1"/>
          <p:nvPr/>
        </p:nvSpPr>
        <p:spPr>
          <a:xfrm>
            <a:off x="2082950" y="3746930"/>
            <a:ext cx="15525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1" name="Google Shape;661;g3d98845a964_9_176"/>
          <p:cNvSpPr txBox="1"/>
          <p:nvPr/>
        </p:nvSpPr>
        <p:spPr>
          <a:xfrm>
            <a:off x="3613000" y="2752370"/>
            <a:ext cx="19224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Day-of-week Effects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62" name="Google Shape;662;g3d98845a964_9_176"/>
          <p:cNvSpPr txBox="1"/>
          <p:nvPr/>
        </p:nvSpPr>
        <p:spPr>
          <a:xfrm>
            <a:off x="5529442" y="3034831"/>
            <a:ext cx="15525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g3d98845a964_9_176"/>
          <p:cNvSpPr txBox="1"/>
          <p:nvPr/>
        </p:nvSpPr>
        <p:spPr>
          <a:xfrm>
            <a:off x="3810565" y="4325158"/>
            <a:ext cx="1522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Factors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56" name="Google Shape;656;g3d98845a964_9_176"/>
          <p:cNvSpPr txBox="1"/>
          <p:nvPr/>
        </p:nvSpPr>
        <p:spPr>
          <a:xfrm>
            <a:off x="2676328" y="2177181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</a:t>
            </a:r>
            <a:r>
              <a:rPr lang="en-US" sz="11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2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64" name="Google Shape;664;g3d98845a964_9_176"/>
          <p:cNvSpPr txBox="1"/>
          <p:nvPr/>
        </p:nvSpPr>
        <p:spPr>
          <a:xfrm>
            <a:off x="4389106" y="2177181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</a:t>
            </a:r>
            <a:r>
              <a:rPr lang="en-US" sz="11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57" name="Google Shape;657;g3d98845a964_9_176"/>
          <p:cNvSpPr txBox="1"/>
          <p:nvPr/>
        </p:nvSpPr>
        <p:spPr>
          <a:xfrm>
            <a:off x="6122841" y="2177181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</a:t>
            </a:r>
            <a:r>
              <a:rPr lang="en-US" sz="11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4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grpSp>
        <p:nvGrpSpPr>
          <p:cNvPr id="665" name="Google Shape;665;g3d98845a964_9_176"/>
          <p:cNvGrpSpPr/>
          <p:nvPr/>
        </p:nvGrpSpPr>
        <p:grpSpPr>
          <a:xfrm>
            <a:off x="4385619" y="1679869"/>
            <a:ext cx="372675" cy="345000"/>
            <a:chOff x="3221113" y="2520150"/>
            <a:chExt cx="372675" cy="345000"/>
          </a:xfrm>
        </p:grpSpPr>
        <p:sp>
          <p:nvSpPr>
            <p:cNvPr id="666" name="Google Shape;666;g3d98845a964_9_176"/>
            <p:cNvSpPr/>
            <p:nvPr/>
          </p:nvSpPr>
          <p:spPr>
            <a:xfrm>
              <a:off x="3554288" y="2774400"/>
              <a:ext cx="14875" cy="43850"/>
            </a:xfrm>
            <a:custGeom>
              <a:rect b="b" l="l" r="r" t="t"/>
              <a:pathLst>
                <a:path extrusionOk="0" h="1754" w="595">
                  <a:moveTo>
                    <a:pt x="0" y="0"/>
                  </a:moveTo>
                  <a:lnTo>
                    <a:pt x="0" y="1753"/>
                  </a:lnTo>
                  <a:lnTo>
                    <a:pt x="595" y="175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d98845a964_9_176"/>
            <p:cNvSpPr/>
            <p:nvPr/>
          </p:nvSpPr>
          <p:spPr>
            <a:xfrm>
              <a:off x="3295938" y="2550150"/>
              <a:ext cx="87425" cy="151750"/>
            </a:xfrm>
            <a:custGeom>
              <a:rect b="b" l="l" r="r" t="t"/>
              <a:pathLst>
                <a:path extrusionOk="0" h="6070" w="3497">
                  <a:moveTo>
                    <a:pt x="2174" y="0"/>
                  </a:moveTo>
                  <a:lnTo>
                    <a:pt x="1662" y="298"/>
                  </a:lnTo>
                  <a:lnTo>
                    <a:pt x="2266" y="1282"/>
                  </a:lnTo>
                  <a:cubicBezTo>
                    <a:pt x="2389" y="1456"/>
                    <a:pt x="2389" y="1671"/>
                    <a:pt x="2266" y="1835"/>
                  </a:cubicBezTo>
                  <a:lnTo>
                    <a:pt x="2266" y="1876"/>
                  </a:lnTo>
                  <a:cubicBezTo>
                    <a:pt x="1959" y="2348"/>
                    <a:pt x="2092" y="2953"/>
                    <a:pt x="2523" y="3332"/>
                  </a:cubicBezTo>
                  <a:lnTo>
                    <a:pt x="2646" y="3414"/>
                  </a:lnTo>
                  <a:cubicBezTo>
                    <a:pt x="2820" y="3547"/>
                    <a:pt x="2902" y="3763"/>
                    <a:pt x="2861" y="3927"/>
                  </a:cubicBezTo>
                  <a:lnTo>
                    <a:pt x="2820" y="4101"/>
                  </a:lnTo>
                  <a:cubicBezTo>
                    <a:pt x="2779" y="4357"/>
                    <a:pt x="2564" y="4531"/>
                    <a:pt x="2307" y="4531"/>
                  </a:cubicBezTo>
                  <a:lnTo>
                    <a:pt x="1580" y="4531"/>
                  </a:lnTo>
                  <a:cubicBezTo>
                    <a:pt x="1282" y="4531"/>
                    <a:pt x="1026" y="4654"/>
                    <a:pt x="811" y="4870"/>
                  </a:cubicBezTo>
                  <a:lnTo>
                    <a:pt x="1" y="5639"/>
                  </a:lnTo>
                  <a:lnTo>
                    <a:pt x="421" y="6069"/>
                  </a:lnTo>
                  <a:lnTo>
                    <a:pt x="1241" y="5259"/>
                  </a:lnTo>
                  <a:cubicBezTo>
                    <a:pt x="1323" y="5167"/>
                    <a:pt x="1446" y="5126"/>
                    <a:pt x="1580" y="5126"/>
                  </a:cubicBezTo>
                  <a:lnTo>
                    <a:pt x="2307" y="5126"/>
                  </a:lnTo>
                  <a:cubicBezTo>
                    <a:pt x="2861" y="5126"/>
                    <a:pt x="3333" y="4747"/>
                    <a:pt x="3415" y="4183"/>
                  </a:cubicBezTo>
                  <a:lnTo>
                    <a:pt x="3456" y="4019"/>
                  </a:lnTo>
                  <a:cubicBezTo>
                    <a:pt x="3497" y="3629"/>
                    <a:pt x="3333" y="3250"/>
                    <a:pt x="3035" y="2994"/>
                  </a:cubicBezTo>
                  <a:lnTo>
                    <a:pt x="2861" y="2860"/>
                  </a:lnTo>
                  <a:cubicBezTo>
                    <a:pt x="2687" y="2696"/>
                    <a:pt x="2605" y="2389"/>
                    <a:pt x="2779" y="2184"/>
                  </a:cubicBezTo>
                  <a:lnTo>
                    <a:pt x="2779" y="2133"/>
                  </a:lnTo>
                  <a:cubicBezTo>
                    <a:pt x="2984" y="1753"/>
                    <a:pt x="2984" y="1323"/>
                    <a:pt x="2779" y="943"/>
                  </a:cubicBezTo>
                  <a:lnTo>
                    <a:pt x="217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d98845a964_9_176"/>
            <p:cNvSpPr/>
            <p:nvPr/>
          </p:nvSpPr>
          <p:spPr>
            <a:xfrm>
              <a:off x="3420763" y="2565000"/>
              <a:ext cx="88700" cy="178400"/>
            </a:xfrm>
            <a:custGeom>
              <a:rect b="b" l="l" r="r" t="t"/>
              <a:pathLst>
                <a:path extrusionOk="0" h="7136" w="3548">
                  <a:moveTo>
                    <a:pt x="0" y="1"/>
                  </a:moveTo>
                  <a:lnTo>
                    <a:pt x="0" y="606"/>
                  </a:lnTo>
                  <a:cubicBezTo>
                    <a:pt x="1630" y="606"/>
                    <a:pt x="2953" y="1928"/>
                    <a:pt x="2953" y="3589"/>
                  </a:cubicBezTo>
                  <a:cubicBezTo>
                    <a:pt x="2953" y="5219"/>
                    <a:pt x="1630" y="6582"/>
                    <a:pt x="0" y="6582"/>
                  </a:cubicBezTo>
                  <a:lnTo>
                    <a:pt x="0" y="7136"/>
                  </a:lnTo>
                  <a:cubicBezTo>
                    <a:pt x="1969" y="7136"/>
                    <a:pt x="3547" y="5557"/>
                    <a:pt x="3547" y="3589"/>
                  </a:cubicBezTo>
                  <a:cubicBezTo>
                    <a:pt x="3547" y="1631"/>
                    <a:pt x="1969" y="1"/>
                    <a:pt x="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d98845a964_9_176"/>
            <p:cNvSpPr/>
            <p:nvPr/>
          </p:nvSpPr>
          <p:spPr>
            <a:xfrm>
              <a:off x="3221113" y="2520150"/>
              <a:ext cx="372675" cy="345000"/>
            </a:xfrm>
            <a:custGeom>
              <a:rect b="b" l="l" r="r" t="t"/>
              <a:pathLst>
                <a:path extrusionOk="0" h="13800" w="14907">
                  <a:moveTo>
                    <a:pt x="8243" y="4194"/>
                  </a:moveTo>
                  <a:cubicBezTo>
                    <a:pt x="8796" y="4317"/>
                    <a:pt x="9186" y="4788"/>
                    <a:pt x="9186" y="5383"/>
                  </a:cubicBezTo>
                  <a:cubicBezTo>
                    <a:pt x="9186" y="5947"/>
                    <a:pt x="8796" y="6459"/>
                    <a:pt x="8243" y="6582"/>
                  </a:cubicBezTo>
                  <a:lnTo>
                    <a:pt x="8243" y="4194"/>
                  </a:lnTo>
                  <a:close/>
                  <a:moveTo>
                    <a:pt x="7689" y="606"/>
                  </a:moveTo>
                  <a:lnTo>
                    <a:pt x="7689" y="8376"/>
                  </a:lnTo>
                  <a:lnTo>
                    <a:pt x="4275" y="8376"/>
                  </a:lnTo>
                  <a:cubicBezTo>
                    <a:pt x="3588" y="7525"/>
                    <a:pt x="3209" y="6459"/>
                    <a:pt x="3209" y="5383"/>
                  </a:cubicBezTo>
                  <a:cubicBezTo>
                    <a:pt x="3209" y="2871"/>
                    <a:pt x="5167" y="770"/>
                    <a:pt x="7689" y="606"/>
                  </a:cubicBezTo>
                  <a:close/>
                  <a:moveTo>
                    <a:pt x="8243" y="606"/>
                  </a:moveTo>
                  <a:cubicBezTo>
                    <a:pt x="10764" y="770"/>
                    <a:pt x="12733" y="2871"/>
                    <a:pt x="12733" y="5383"/>
                  </a:cubicBezTo>
                  <a:cubicBezTo>
                    <a:pt x="12733" y="6459"/>
                    <a:pt x="12343" y="7525"/>
                    <a:pt x="11667" y="8376"/>
                  </a:cubicBezTo>
                  <a:lnTo>
                    <a:pt x="8243" y="8376"/>
                  </a:lnTo>
                  <a:lnTo>
                    <a:pt x="8243" y="7177"/>
                  </a:lnTo>
                  <a:cubicBezTo>
                    <a:pt x="9145" y="7054"/>
                    <a:pt x="9780" y="6285"/>
                    <a:pt x="9780" y="5383"/>
                  </a:cubicBezTo>
                  <a:cubicBezTo>
                    <a:pt x="9780" y="4491"/>
                    <a:pt x="9145" y="3722"/>
                    <a:pt x="8243" y="3589"/>
                  </a:cubicBezTo>
                  <a:lnTo>
                    <a:pt x="8243" y="606"/>
                  </a:lnTo>
                  <a:close/>
                  <a:moveTo>
                    <a:pt x="13799" y="8930"/>
                  </a:moveTo>
                  <a:cubicBezTo>
                    <a:pt x="14014" y="8930"/>
                    <a:pt x="14229" y="9145"/>
                    <a:pt x="14270" y="9360"/>
                  </a:cubicBezTo>
                  <a:cubicBezTo>
                    <a:pt x="14311" y="9658"/>
                    <a:pt x="14055" y="9914"/>
                    <a:pt x="13799" y="9914"/>
                  </a:cubicBezTo>
                  <a:lnTo>
                    <a:pt x="3845" y="9914"/>
                  </a:lnTo>
                  <a:cubicBezTo>
                    <a:pt x="3158" y="9914"/>
                    <a:pt x="2604" y="10468"/>
                    <a:pt x="2645" y="11113"/>
                  </a:cubicBezTo>
                  <a:cubicBezTo>
                    <a:pt x="2697" y="11749"/>
                    <a:pt x="3209" y="12221"/>
                    <a:pt x="3804" y="12221"/>
                  </a:cubicBezTo>
                  <a:lnTo>
                    <a:pt x="13799" y="12221"/>
                  </a:lnTo>
                  <a:cubicBezTo>
                    <a:pt x="14055" y="12221"/>
                    <a:pt x="14270" y="12436"/>
                    <a:pt x="14270" y="12692"/>
                  </a:cubicBezTo>
                  <a:lnTo>
                    <a:pt x="14270" y="13072"/>
                  </a:lnTo>
                  <a:cubicBezTo>
                    <a:pt x="14270" y="13164"/>
                    <a:pt x="14229" y="13205"/>
                    <a:pt x="14137" y="13205"/>
                  </a:cubicBezTo>
                  <a:lnTo>
                    <a:pt x="2994" y="13205"/>
                  </a:lnTo>
                  <a:cubicBezTo>
                    <a:pt x="2861" y="13205"/>
                    <a:pt x="2738" y="13164"/>
                    <a:pt x="2645" y="13072"/>
                  </a:cubicBezTo>
                  <a:cubicBezTo>
                    <a:pt x="687" y="11237"/>
                    <a:pt x="1969" y="8930"/>
                    <a:pt x="3804" y="8930"/>
                  </a:cubicBezTo>
                  <a:close/>
                  <a:moveTo>
                    <a:pt x="7945" y="1"/>
                  </a:moveTo>
                  <a:cubicBezTo>
                    <a:pt x="5003" y="1"/>
                    <a:pt x="2604" y="2441"/>
                    <a:pt x="2604" y="5383"/>
                  </a:cubicBezTo>
                  <a:cubicBezTo>
                    <a:pt x="2604" y="6459"/>
                    <a:pt x="2953" y="7484"/>
                    <a:pt x="3547" y="8376"/>
                  </a:cubicBezTo>
                  <a:cubicBezTo>
                    <a:pt x="1415" y="8592"/>
                    <a:pt x="0" y="11237"/>
                    <a:pt x="2133" y="13461"/>
                  </a:cubicBezTo>
                  <a:cubicBezTo>
                    <a:pt x="2307" y="13635"/>
                    <a:pt x="2697" y="13799"/>
                    <a:pt x="2953" y="13799"/>
                  </a:cubicBezTo>
                  <a:lnTo>
                    <a:pt x="14434" y="13799"/>
                  </a:lnTo>
                  <a:cubicBezTo>
                    <a:pt x="14650" y="13799"/>
                    <a:pt x="14865" y="13584"/>
                    <a:pt x="14865" y="13379"/>
                  </a:cubicBezTo>
                  <a:lnTo>
                    <a:pt x="14865" y="12221"/>
                  </a:lnTo>
                  <a:cubicBezTo>
                    <a:pt x="14865" y="11923"/>
                    <a:pt x="14568" y="11626"/>
                    <a:pt x="14270" y="11626"/>
                  </a:cubicBezTo>
                  <a:lnTo>
                    <a:pt x="3670" y="11626"/>
                  </a:lnTo>
                  <a:cubicBezTo>
                    <a:pt x="3588" y="11626"/>
                    <a:pt x="3506" y="11626"/>
                    <a:pt x="3465" y="11534"/>
                  </a:cubicBezTo>
                  <a:cubicBezTo>
                    <a:pt x="3035" y="11072"/>
                    <a:pt x="3373" y="10468"/>
                    <a:pt x="3845" y="10468"/>
                  </a:cubicBezTo>
                  <a:lnTo>
                    <a:pt x="13758" y="10468"/>
                  </a:lnTo>
                  <a:cubicBezTo>
                    <a:pt x="14311" y="10468"/>
                    <a:pt x="14783" y="10088"/>
                    <a:pt x="14865" y="9535"/>
                  </a:cubicBezTo>
                  <a:cubicBezTo>
                    <a:pt x="14906" y="8889"/>
                    <a:pt x="14393" y="8376"/>
                    <a:pt x="13799" y="8376"/>
                  </a:cubicBezTo>
                  <a:lnTo>
                    <a:pt x="12435" y="8376"/>
                  </a:lnTo>
                  <a:cubicBezTo>
                    <a:pt x="12989" y="7484"/>
                    <a:pt x="13327" y="6459"/>
                    <a:pt x="13327" y="5383"/>
                  </a:cubicBezTo>
                  <a:cubicBezTo>
                    <a:pt x="13327" y="2441"/>
                    <a:pt x="10939" y="1"/>
                    <a:pt x="794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g3d98845a964_9_176"/>
          <p:cNvGrpSpPr/>
          <p:nvPr/>
        </p:nvGrpSpPr>
        <p:grpSpPr>
          <a:xfrm>
            <a:off x="2687190" y="1680506"/>
            <a:ext cx="343975" cy="343725"/>
            <a:chOff x="4744988" y="1976825"/>
            <a:chExt cx="343975" cy="343725"/>
          </a:xfrm>
        </p:grpSpPr>
        <p:sp>
          <p:nvSpPr>
            <p:cNvPr id="671" name="Google Shape;671;g3d98845a964_9_176"/>
            <p:cNvSpPr/>
            <p:nvPr/>
          </p:nvSpPr>
          <p:spPr>
            <a:xfrm>
              <a:off x="4788813" y="2020400"/>
              <a:ext cx="47950" cy="59125"/>
            </a:xfrm>
            <a:custGeom>
              <a:rect b="b" l="l" r="r" t="t"/>
              <a:pathLst>
                <a:path extrusionOk="0" h="2365" w="1918">
                  <a:moveTo>
                    <a:pt x="298" y="1"/>
                  </a:moveTo>
                  <a:cubicBezTo>
                    <a:pt x="165" y="1"/>
                    <a:pt x="42" y="134"/>
                    <a:pt x="1" y="257"/>
                  </a:cubicBezTo>
                  <a:cubicBezTo>
                    <a:pt x="1" y="431"/>
                    <a:pt x="124" y="605"/>
                    <a:pt x="298" y="605"/>
                  </a:cubicBezTo>
                  <a:lnTo>
                    <a:pt x="677" y="605"/>
                  </a:lnTo>
                  <a:lnTo>
                    <a:pt x="677" y="2051"/>
                  </a:lnTo>
                  <a:cubicBezTo>
                    <a:pt x="677" y="2184"/>
                    <a:pt x="770" y="2307"/>
                    <a:pt x="893" y="2358"/>
                  </a:cubicBezTo>
                  <a:cubicBezTo>
                    <a:pt x="914" y="2363"/>
                    <a:pt x="935" y="2365"/>
                    <a:pt x="955" y="2365"/>
                  </a:cubicBezTo>
                  <a:cubicBezTo>
                    <a:pt x="1133" y="2365"/>
                    <a:pt x="1241" y="2208"/>
                    <a:pt x="1241" y="2051"/>
                  </a:cubicBezTo>
                  <a:lnTo>
                    <a:pt x="1241" y="605"/>
                  </a:lnTo>
                  <a:lnTo>
                    <a:pt x="1620" y="605"/>
                  </a:lnTo>
                  <a:cubicBezTo>
                    <a:pt x="1754" y="605"/>
                    <a:pt x="1877" y="513"/>
                    <a:pt x="1918" y="349"/>
                  </a:cubicBezTo>
                  <a:cubicBezTo>
                    <a:pt x="1918" y="175"/>
                    <a:pt x="1795" y="1"/>
                    <a:pt x="162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d98845a964_9_176"/>
            <p:cNvSpPr/>
            <p:nvPr/>
          </p:nvSpPr>
          <p:spPr>
            <a:xfrm>
              <a:off x="4744988" y="1976825"/>
              <a:ext cx="343975" cy="343725"/>
            </a:xfrm>
            <a:custGeom>
              <a:rect b="b" l="l" r="r" t="t"/>
              <a:pathLst>
                <a:path extrusionOk="0" h="13749" w="13759">
                  <a:moveTo>
                    <a:pt x="6582" y="595"/>
                  </a:moveTo>
                  <a:lnTo>
                    <a:pt x="6582" y="8756"/>
                  </a:lnTo>
                  <a:lnTo>
                    <a:pt x="595" y="8756"/>
                  </a:lnTo>
                  <a:lnTo>
                    <a:pt x="595" y="1108"/>
                  </a:lnTo>
                  <a:cubicBezTo>
                    <a:pt x="595" y="811"/>
                    <a:pt x="811" y="595"/>
                    <a:pt x="1108" y="595"/>
                  </a:cubicBezTo>
                  <a:close/>
                  <a:moveTo>
                    <a:pt x="12641" y="595"/>
                  </a:moveTo>
                  <a:cubicBezTo>
                    <a:pt x="12938" y="595"/>
                    <a:pt x="13153" y="811"/>
                    <a:pt x="13153" y="1108"/>
                  </a:cubicBezTo>
                  <a:lnTo>
                    <a:pt x="13153" y="8756"/>
                  </a:lnTo>
                  <a:lnTo>
                    <a:pt x="7177" y="8756"/>
                  </a:lnTo>
                  <a:lnTo>
                    <a:pt x="7177" y="595"/>
                  </a:lnTo>
                  <a:close/>
                  <a:moveTo>
                    <a:pt x="13153" y="9350"/>
                  </a:moveTo>
                  <a:lnTo>
                    <a:pt x="13153" y="10201"/>
                  </a:lnTo>
                  <a:cubicBezTo>
                    <a:pt x="13153" y="10509"/>
                    <a:pt x="12938" y="10714"/>
                    <a:pt x="12641" y="10714"/>
                  </a:cubicBezTo>
                  <a:lnTo>
                    <a:pt x="1108" y="10714"/>
                  </a:lnTo>
                  <a:cubicBezTo>
                    <a:pt x="811" y="10714"/>
                    <a:pt x="595" y="10509"/>
                    <a:pt x="595" y="10201"/>
                  </a:cubicBezTo>
                  <a:lnTo>
                    <a:pt x="595" y="9350"/>
                  </a:lnTo>
                  <a:close/>
                  <a:moveTo>
                    <a:pt x="8120" y="11318"/>
                  </a:moveTo>
                  <a:cubicBezTo>
                    <a:pt x="8161" y="11954"/>
                    <a:pt x="8325" y="12600"/>
                    <a:pt x="8581" y="13194"/>
                  </a:cubicBezTo>
                  <a:lnTo>
                    <a:pt x="5167" y="13194"/>
                  </a:lnTo>
                  <a:cubicBezTo>
                    <a:pt x="5424" y="12600"/>
                    <a:pt x="5598" y="11954"/>
                    <a:pt x="5639" y="11318"/>
                  </a:cubicBezTo>
                  <a:close/>
                  <a:moveTo>
                    <a:pt x="1108" y="1"/>
                  </a:moveTo>
                  <a:cubicBezTo>
                    <a:pt x="472" y="1"/>
                    <a:pt x="1" y="462"/>
                    <a:pt x="1" y="1108"/>
                  </a:cubicBezTo>
                  <a:lnTo>
                    <a:pt x="1" y="10252"/>
                  </a:lnTo>
                  <a:cubicBezTo>
                    <a:pt x="1" y="10847"/>
                    <a:pt x="472" y="11318"/>
                    <a:pt x="1108" y="11318"/>
                  </a:cubicBezTo>
                  <a:lnTo>
                    <a:pt x="4993" y="11318"/>
                  </a:lnTo>
                  <a:cubicBezTo>
                    <a:pt x="4952" y="11954"/>
                    <a:pt x="4788" y="12600"/>
                    <a:pt x="4481" y="13153"/>
                  </a:cubicBezTo>
                  <a:lnTo>
                    <a:pt x="3589" y="13153"/>
                  </a:lnTo>
                  <a:cubicBezTo>
                    <a:pt x="3455" y="13153"/>
                    <a:pt x="3332" y="13276"/>
                    <a:pt x="3291" y="13410"/>
                  </a:cubicBezTo>
                  <a:cubicBezTo>
                    <a:pt x="3291" y="13584"/>
                    <a:pt x="3414" y="13748"/>
                    <a:pt x="3589" y="13748"/>
                  </a:cubicBezTo>
                  <a:lnTo>
                    <a:pt x="10170" y="13748"/>
                  </a:lnTo>
                  <a:cubicBezTo>
                    <a:pt x="10293" y="13748"/>
                    <a:pt x="10427" y="13666"/>
                    <a:pt x="10468" y="13492"/>
                  </a:cubicBezTo>
                  <a:cubicBezTo>
                    <a:pt x="10468" y="13328"/>
                    <a:pt x="10334" y="13153"/>
                    <a:pt x="10170" y="13153"/>
                  </a:cubicBezTo>
                  <a:lnTo>
                    <a:pt x="9227" y="13153"/>
                  </a:lnTo>
                  <a:cubicBezTo>
                    <a:pt x="8930" y="12600"/>
                    <a:pt x="8756" y="11954"/>
                    <a:pt x="8715" y="11318"/>
                  </a:cubicBezTo>
                  <a:lnTo>
                    <a:pt x="12641" y="11318"/>
                  </a:lnTo>
                  <a:cubicBezTo>
                    <a:pt x="13287" y="11318"/>
                    <a:pt x="13758" y="10847"/>
                    <a:pt x="13758" y="10252"/>
                  </a:cubicBezTo>
                  <a:lnTo>
                    <a:pt x="13758" y="1108"/>
                  </a:lnTo>
                  <a:cubicBezTo>
                    <a:pt x="13758" y="462"/>
                    <a:pt x="13287" y="1"/>
                    <a:pt x="1264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d98845a964_9_176"/>
            <p:cNvSpPr/>
            <p:nvPr/>
          </p:nvSpPr>
          <p:spPr>
            <a:xfrm>
              <a:off x="4843163" y="2064225"/>
              <a:ext cx="38450" cy="15150"/>
            </a:xfrm>
            <a:custGeom>
              <a:rect b="b" l="l" r="r" t="t"/>
              <a:pathLst>
                <a:path extrusionOk="0" h="606" w="1538">
                  <a:moveTo>
                    <a:pt x="349" y="1"/>
                  </a:moveTo>
                  <a:cubicBezTo>
                    <a:pt x="133" y="1"/>
                    <a:pt x="0" y="175"/>
                    <a:pt x="41" y="349"/>
                  </a:cubicBezTo>
                  <a:cubicBezTo>
                    <a:pt x="41" y="513"/>
                    <a:pt x="174" y="605"/>
                    <a:pt x="349" y="605"/>
                  </a:cubicBezTo>
                  <a:lnTo>
                    <a:pt x="1199" y="605"/>
                  </a:lnTo>
                  <a:cubicBezTo>
                    <a:pt x="1374" y="605"/>
                    <a:pt x="1538" y="431"/>
                    <a:pt x="1497" y="257"/>
                  </a:cubicBezTo>
                  <a:cubicBezTo>
                    <a:pt x="1456" y="134"/>
                    <a:pt x="1323" y="1"/>
                    <a:pt x="119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d98845a964_9_176"/>
            <p:cNvSpPr/>
            <p:nvPr/>
          </p:nvSpPr>
          <p:spPr>
            <a:xfrm>
              <a:off x="4788813" y="21080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513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134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d98845a964_9_176"/>
            <p:cNvSpPr/>
            <p:nvPr/>
          </p:nvSpPr>
          <p:spPr>
            <a:xfrm>
              <a:off x="4788813" y="2151875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83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d98845a964_9_176"/>
            <p:cNvSpPr/>
            <p:nvPr/>
          </p:nvSpPr>
          <p:spPr>
            <a:xfrm>
              <a:off x="4953088" y="2108050"/>
              <a:ext cx="92050" cy="14900"/>
            </a:xfrm>
            <a:custGeom>
              <a:rect b="b" l="l" r="r" t="t"/>
              <a:pathLst>
                <a:path extrusionOk="0" h="596" w="3682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513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d98845a964_9_176"/>
            <p:cNvSpPr/>
            <p:nvPr/>
          </p:nvSpPr>
          <p:spPr>
            <a:xfrm>
              <a:off x="4953088" y="2064225"/>
              <a:ext cx="92050" cy="15150"/>
            </a:xfrm>
            <a:custGeom>
              <a:rect b="b" l="l" r="r" t="t"/>
              <a:pathLst>
                <a:path extrusionOk="0" h="606" w="3682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d98845a964_9_176"/>
            <p:cNvSpPr/>
            <p:nvPr/>
          </p:nvSpPr>
          <p:spPr>
            <a:xfrm>
              <a:off x="4953088" y="2020400"/>
              <a:ext cx="92050" cy="15150"/>
            </a:xfrm>
            <a:custGeom>
              <a:rect b="b" l="l" r="r" t="t"/>
              <a:pathLst>
                <a:path extrusionOk="0" h="606" w="3682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d98845a964_9_176"/>
            <p:cNvSpPr/>
            <p:nvPr/>
          </p:nvSpPr>
          <p:spPr>
            <a:xfrm>
              <a:off x="4953088" y="2151875"/>
              <a:ext cx="70525" cy="14900"/>
            </a:xfrm>
            <a:custGeom>
              <a:rect b="b" l="l" r="r" t="t"/>
              <a:pathLst>
                <a:path extrusionOk="0" h="596" w="2821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2482" y="595"/>
                  </a:lnTo>
                  <a:cubicBezTo>
                    <a:pt x="2656" y="595"/>
                    <a:pt x="2820" y="431"/>
                    <a:pt x="2779" y="257"/>
                  </a:cubicBezTo>
                  <a:cubicBezTo>
                    <a:pt x="2779" y="83"/>
                    <a:pt x="2656" y="1"/>
                    <a:pt x="248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g3d98845a964_9_176"/>
          <p:cNvGrpSpPr/>
          <p:nvPr/>
        </p:nvGrpSpPr>
        <p:grpSpPr>
          <a:xfrm>
            <a:off x="6132678" y="1680506"/>
            <a:ext cx="346000" cy="343725"/>
            <a:chOff x="7008788" y="1976825"/>
            <a:chExt cx="346000" cy="343725"/>
          </a:xfrm>
        </p:grpSpPr>
        <p:sp>
          <p:nvSpPr>
            <p:cNvPr id="681" name="Google Shape;681;g3d98845a964_9_176"/>
            <p:cNvSpPr/>
            <p:nvPr/>
          </p:nvSpPr>
          <p:spPr>
            <a:xfrm>
              <a:off x="7076188" y="1976825"/>
              <a:ext cx="232725" cy="293475"/>
            </a:xfrm>
            <a:custGeom>
              <a:rect b="b" l="l" r="r" t="t"/>
              <a:pathLst>
                <a:path extrusionOk="0" h="11739" w="9309">
                  <a:moveTo>
                    <a:pt x="1282" y="1"/>
                  </a:moveTo>
                  <a:cubicBezTo>
                    <a:pt x="554" y="1"/>
                    <a:pt x="0" y="554"/>
                    <a:pt x="0" y="1282"/>
                  </a:cubicBezTo>
                  <a:lnTo>
                    <a:pt x="0" y="6962"/>
                  </a:lnTo>
                  <a:lnTo>
                    <a:pt x="0" y="9863"/>
                  </a:lnTo>
                  <a:lnTo>
                    <a:pt x="0" y="10293"/>
                  </a:lnTo>
                  <a:lnTo>
                    <a:pt x="0" y="10375"/>
                  </a:lnTo>
                  <a:lnTo>
                    <a:pt x="0" y="10457"/>
                  </a:lnTo>
                  <a:cubicBezTo>
                    <a:pt x="0" y="11185"/>
                    <a:pt x="554" y="11739"/>
                    <a:pt x="1241" y="11739"/>
                  </a:cubicBezTo>
                  <a:lnTo>
                    <a:pt x="6233" y="11739"/>
                  </a:lnTo>
                  <a:lnTo>
                    <a:pt x="6233" y="11144"/>
                  </a:lnTo>
                  <a:lnTo>
                    <a:pt x="1282" y="11144"/>
                  </a:lnTo>
                  <a:cubicBezTo>
                    <a:pt x="892" y="11144"/>
                    <a:pt x="595" y="10847"/>
                    <a:pt x="595" y="10457"/>
                  </a:cubicBezTo>
                  <a:cubicBezTo>
                    <a:pt x="595" y="10078"/>
                    <a:pt x="892" y="9781"/>
                    <a:pt x="1282" y="9781"/>
                  </a:cubicBezTo>
                  <a:lnTo>
                    <a:pt x="6059" y="9781"/>
                  </a:lnTo>
                  <a:lnTo>
                    <a:pt x="6059" y="9176"/>
                  </a:lnTo>
                  <a:lnTo>
                    <a:pt x="1241" y="9176"/>
                  </a:lnTo>
                  <a:cubicBezTo>
                    <a:pt x="984" y="9176"/>
                    <a:pt x="728" y="9268"/>
                    <a:pt x="554" y="9391"/>
                  </a:cubicBezTo>
                  <a:lnTo>
                    <a:pt x="554" y="6962"/>
                  </a:lnTo>
                  <a:lnTo>
                    <a:pt x="554" y="1231"/>
                  </a:lnTo>
                  <a:cubicBezTo>
                    <a:pt x="554" y="852"/>
                    <a:pt x="851" y="554"/>
                    <a:pt x="1241" y="554"/>
                  </a:cubicBezTo>
                  <a:lnTo>
                    <a:pt x="8755" y="554"/>
                  </a:lnTo>
                  <a:lnTo>
                    <a:pt x="8755" y="8920"/>
                  </a:lnTo>
                  <a:lnTo>
                    <a:pt x="9309" y="8920"/>
                  </a:lnTo>
                  <a:lnTo>
                    <a:pt x="9309" y="298"/>
                  </a:lnTo>
                  <a:cubicBezTo>
                    <a:pt x="9309" y="124"/>
                    <a:pt x="9186" y="1"/>
                    <a:pt x="901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d98845a964_9_176"/>
            <p:cNvSpPr/>
            <p:nvPr/>
          </p:nvSpPr>
          <p:spPr>
            <a:xfrm>
              <a:off x="7218163" y="2184525"/>
              <a:ext cx="136625" cy="136025"/>
            </a:xfrm>
            <a:custGeom>
              <a:rect b="b" l="l" r="r" t="t"/>
              <a:pathLst>
                <a:path extrusionOk="0" h="5441" w="5465">
                  <a:moveTo>
                    <a:pt x="595" y="612"/>
                  </a:moveTo>
                  <a:lnTo>
                    <a:pt x="4019" y="960"/>
                  </a:lnTo>
                  <a:lnTo>
                    <a:pt x="3373" y="1596"/>
                  </a:lnTo>
                  <a:cubicBezTo>
                    <a:pt x="3332" y="1637"/>
                    <a:pt x="3332" y="1688"/>
                    <a:pt x="3291" y="1688"/>
                  </a:cubicBezTo>
                  <a:cubicBezTo>
                    <a:pt x="3250" y="1811"/>
                    <a:pt x="3291" y="1944"/>
                    <a:pt x="3373" y="2026"/>
                  </a:cubicBezTo>
                  <a:lnTo>
                    <a:pt x="4696" y="3349"/>
                  </a:lnTo>
                  <a:lnTo>
                    <a:pt x="3332" y="4712"/>
                  </a:lnTo>
                  <a:lnTo>
                    <a:pt x="2051" y="3349"/>
                  </a:lnTo>
                  <a:cubicBezTo>
                    <a:pt x="1969" y="3308"/>
                    <a:pt x="1877" y="3267"/>
                    <a:pt x="1836" y="3267"/>
                  </a:cubicBezTo>
                  <a:cubicBezTo>
                    <a:pt x="1754" y="3267"/>
                    <a:pt x="1661" y="3308"/>
                    <a:pt x="1620" y="3349"/>
                  </a:cubicBezTo>
                  <a:lnTo>
                    <a:pt x="944" y="4036"/>
                  </a:lnTo>
                  <a:lnTo>
                    <a:pt x="595" y="612"/>
                  </a:lnTo>
                  <a:close/>
                  <a:moveTo>
                    <a:pt x="231" y="1"/>
                  </a:moveTo>
                  <a:cubicBezTo>
                    <a:pt x="170" y="1"/>
                    <a:pt x="113" y="39"/>
                    <a:pt x="83" y="99"/>
                  </a:cubicBezTo>
                  <a:cubicBezTo>
                    <a:pt x="1" y="150"/>
                    <a:pt x="1" y="232"/>
                    <a:pt x="1" y="314"/>
                  </a:cubicBezTo>
                  <a:lnTo>
                    <a:pt x="431" y="4712"/>
                  </a:lnTo>
                  <a:cubicBezTo>
                    <a:pt x="431" y="4845"/>
                    <a:pt x="554" y="4968"/>
                    <a:pt x="728" y="4968"/>
                  </a:cubicBezTo>
                  <a:cubicBezTo>
                    <a:pt x="810" y="4968"/>
                    <a:pt x="892" y="4927"/>
                    <a:pt x="944" y="4886"/>
                  </a:cubicBezTo>
                  <a:lnTo>
                    <a:pt x="1836" y="3995"/>
                  </a:lnTo>
                  <a:lnTo>
                    <a:pt x="3117" y="5358"/>
                  </a:lnTo>
                  <a:cubicBezTo>
                    <a:pt x="3199" y="5399"/>
                    <a:pt x="3291" y="5440"/>
                    <a:pt x="3332" y="5440"/>
                  </a:cubicBezTo>
                  <a:cubicBezTo>
                    <a:pt x="3414" y="5440"/>
                    <a:pt x="3507" y="5399"/>
                    <a:pt x="3548" y="5358"/>
                  </a:cubicBezTo>
                  <a:lnTo>
                    <a:pt x="5342" y="3564"/>
                  </a:lnTo>
                  <a:cubicBezTo>
                    <a:pt x="5342" y="3564"/>
                    <a:pt x="5383" y="3523"/>
                    <a:pt x="5383" y="3482"/>
                  </a:cubicBezTo>
                  <a:cubicBezTo>
                    <a:pt x="5465" y="3349"/>
                    <a:pt x="5424" y="3226"/>
                    <a:pt x="5342" y="3133"/>
                  </a:cubicBezTo>
                  <a:lnTo>
                    <a:pt x="3968" y="1811"/>
                  </a:lnTo>
                  <a:lnTo>
                    <a:pt x="4870" y="960"/>
                  </a:lnTo>
                  <a:cubicBezTo>
                    <a:pt x="4911" y="868"/>
                    <a:pt x="4952" y="827"/>
                    <a:pt x="4952" y="745"/>
                  </a:cubicBezTo>
                  <a:cubicBezTo>
                    <a:pt x="4952" y="571"/>
                    <a:pt x="4829" y="448"/>
                    <a:pt x="4696" y="448"/>
                  </a:cubicBezTo>
                  <a:lnTo>
                    <a:pt x="298" y="17"/>
                  </a:lnTo>
                  <a:cubicBezTo>
                    <a:pt x="276" y="6"/>
                    <a:pt x="253" y="1"/>
                    <a:pt x="231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3d98845a964_9_176"/>
            <p:cNvSpPr/>
            <p:nvPr/>
          </p:nvSpPr>
          <p:spPr>
            <a:xfrm>
              <a:off x="7135888" y="2021675"/>
              <a:ext cx="118700" cy="68200"/>
            </a:xfrm>
            <a:custGeom>
              <a:rect b="b" l="l" r="r" t="t"/>
              <a:pathLst>
                <a:path extrusionOk="0" h="2728" w="4748">
                  <a:moveTo>
                    <a:pt x="4183" y="554"/>
                  </a:moveTo>
                  <a:lnTo>
                    <a:pt x="4183" y="2174"/>
                  </a:lnTo>
                  <a:lnTo>
                    <a:pt x="595" y="2174"/>
                  </a:lnTo>
                  <a:lnTo>
                    <a:pt x="595" y="554"/>
                  </a:lnTo>
                  <a:close/>
                  <a:moveTo>
                    <a:pt x="298" y="1"/>
                  </a:moveTo>
                  <a:cubicBezTo>
                    <a:pt x="134" y="1"/>
                    <a:pt x="1" y="124"/>
                    <a:pt x="1" y="298"/>
                  </a:cubicBezTo>
                  <a:lnTo>
                    <a:pt x="1" y="2471"/>
                  </a:lnTo>
                  <a:cubicBezTo>
                    <a:pt x="1" y="2605"/>
                    <a:pt x="134" y="2728"/>
                    <a:pt x="298" y="2728"/>
                  </a:cubicBezTo>
                  <a:lnTo>
                    <a:pt x="4440" y="2728"/>
                  </a:lnTo>
                  <a:cubicBezTo>
                    <a:pt x="4614" y="2728"/>
                    <a:pt x="4747" y="2605"/>
                    <a:pt x="4747" y="2471"/>
                  </a:cubicBezTo>
                  <a:lnTo>
                    <a:pt x="4747" y="298"/>
                  </a:lnTo>
                  <a:cubicBezTo>
                    <a:pt x="4747" y="124"/>
                    <a:pt x="4614" y="1"/>
                    <a:pt x="444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d98845a964_9_176"/>
            <p:cNvSpPr/>
            <p:nvPr/>
          </p:nvSpPr>
          <p:spPr>
            <a:xfrm>
              <a:off x="7008788" y="2102675"/>
              <a:ext cx="38450" cy="15150"/>
            </a:xfrm>
            <a:custGeom>
              <a:rect b="b" l="l" r="r" t="t"/>
              <a:pathLst>
                <a:path extrusionOk="0" h="606" w="1538">
                  <a:moveTo>
                    <a:pt x="297" y="0"/>
                  </a:moveTo>
                  <a:cubicBezTo>
                    <a:pt x="133" y="0"/>
                    <a:pt x="0" y="175"/>
                    <a:pt x="41" y="349"/>
                  </a:cubicBezTo>
                  <a:cubicBezTo>
                    <a:pt x="41" y="472"/>
                    <a:pt x="174" y="605"/>
                    <a:pt x="349" y="605"/>
                  </a:cubicBezTo>
                  <a:lnTo>
                    <a:pt x="1241" y="605"/>
                  </a:lnTo>
                  <a:cubicBezTo>
                    <a:pt x="1415" y="605"/>
                    <a:pt x="1538" y="431"/>
                    <a:pt x="1497" y="257"/>
                  </a:cubicBezTo>
                  <a:cubicBezTo>
                    <a:pt x="1497" y="93"/>
                    <a:pt x="137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d98845a964_9_176"/>
            <p:cNvSpPr/>
            <p:nvPr/>
          </p:nvSpPr>
          <p:spPr>
            <a:xfrm>
              <a:off x="7008788" y="2052775"/>
              <a:ext cx="39475" cy="26600"/>
            </a:xfrm>
            <a:custGeom>
              <a:rect b="b" l="l" r="r" t="t"/>
              <a:pathLst>
                <a:path extrusionOk="0" h="1064" w="1579">
                  <a:moveTo>
                    <a:pt x="327" y="1"/>
                  </a:moveTo>
                  <a:cubicBezTo>
                    <a:pt x="210" y="1"/>
                    <a:pt x="107" y="73"/>
                    <a:pt x="41" y="161"/>
                  </a:cubicBezTo>
                  <a:cubicBezTo>
                    <a:pt x="0" y="295"/>
                    <a:pt x="41" y="500"/>
                    <a:pt x="174" y="551"/>
                  </a:cubicBezTo>
                  <a:lnTo>
                    <a:pt x="1066" y="1012"/>
                  </a:lnTo>
                  <a:cubicBezTo>
                    <a:pt x="1118" y="1063"/>
                    <a:pt x="1200" y="1063"/>
                    <a:pt x="1241" y="1063"/>
                  </a:cubicBezTo>
                  <a:cubicBezTo>
                    <a:pt x="1323" y="1063"/>
                    <a:pt x="1456" y="1012"/>
                    <a:pt x="1497" y="889"/>
                  </a:cubicBezTo>
                  <a:cubicBezTo>
                    <a:pt x="1579" y="756"/>
                    <a:pt x="1497" y="592"/>
                    <a:pt x="1374" y="500"/>
                  </a:cubicBezTo>
                  <a:lnTo>
                    <a:pt x="472" y="38"/>
                  </a:lnTo>
                  <a:cubicBezTo>
                    <a:pt x="422" y="12"/>
                    <a:pt x="374" y="1"/>
                    <a:pt x="327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d98845a964_9_176"/>
            <p:cNvSpPr/>
            <p:nvPr/>
          </p:nvSpPr>
          <p:spPr>
            <a:xfrm>
              <a:off x="7008788" y="2141125"/>
              <a:ext cx="39475" cy="26675"/>
            </a:xfrm>
            <a:custGeom>
              <a:rect b="b" l="l" r="r" t="t"/>
              <a:pathLst>
                <a:path extrusionOk="0" h="1067" w="1579">
                  <a:moveTo>
                    <a:pt x="1235" y="0"/>
                  </a:moveTo>
                  <a:cubicBezTo>
                    <a:pt x="1181" y="0"/>
                    <a:pt x="1124" y="14"/>
                    <a:pt x="1066" y="41"/>
                  </a:cubicBezTo>
                  <a:lnTo>
                    <a:pt x="174" y="513"/>
                  </a:lnTo>
                  <a:cubicBezTo>
                    <a:pt x="41" y="554"/>
                    <a:pt x="0" y="728"/>
                    <a:pt x="41" y="902"/>
                  </a:cubicBezTo>
                  <a:cubicBezTo>
                    <a:pt x="133" y="984"/>
                    <a:pt x="215" y="1066"/>
                    <a:pt x="349" y="1066"/>
                  </a:cubicBezTo>
                  <a:cubicBezTo>
                    <a:pt x="390" y="1066"/>
                    <a:pt x="431" y="1025"/>
                    <a:pt x="472" y="1025"/>
                  </a:cubicBezTo>
                  <a:lnTo>
                    <a:pt x="1374" y="554"/>
                  </a:lnTo>
                  <a:cubicBezTo>
                    <a:pt x="1497" y="472"/>
                    <a:pt x="1579" y="297"/>
                    <a:pt x="1497" y="174"/>
                  </a:cubicBezTo>
                  <a:cubicBezTo>
                    <a:pt x="1442" y="57"/>
                    <a:pt x="1345" y="0"/>
                    <a:pt x="123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7" name="Google Shape;687;g3d98845a964_9_176"/>
          <p:cNvCxnSpPr>
            <a:stCxn id="660" idx="2"/>
            <a:endCxn id="663" idx="0"/>
          </p:cNvCxnSpPr>
          <p:nvPr/>
        </p:nvCxnSpPr>
        <p:spPr>
          <a:xfrm flipH="1" rot="-5400000">
            <a:off x="3510350" y="3263480"/>
            <a:ext cx="410400" cy="1712700"/>
          </a:xfrm>
          <a:prstGeom prst="bentConnector3">
            <a:avLst>
              <a:gd fmla="val 5001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g3d98845a964_9_176"/>
          <p:cNvCxnSpPr>
            <a:stCxn id="689" idx="2"/>
            <a:endCxn id="663" idx="0"/>
          </p:cNvCxnSpPr>
          <p:nvPr/>
        </p:nvCxnSpPr>
        <p:spPr>
          <a:xfrm flipH="1" rot="-5400000">
            <a:off x="4366465" y="4119658"/>
            <a:ext cx="4104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g3d98845a964_9_176"/>
          <p:cNvCxnSpPr>
            <a:stCxn id="662" idx="2"/>
            <a:endCxn id="663" idx="0"/>
          </p:cNvCxnSpPr>
          <p:nvPr/>
        </p:nvCxnSpPr>
        <p:spPr>
          <a:xfrm rot="5400000">
            <a:off x="5233642" y="3253081"/>
            <a:ext cx="410400" cy="1733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g3d98845a964_9_176"/>
          <p:cNvCxnSpPr/>
          <p:nvPr/>
        </p:nvCxnSpPr>
        <p:spPr>
          <a:xfrm flipH="1" rot="-5400000">
            <a:off x="1797640" y="3263581"/>
            <a:ext cx="410400" cy="1712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g3d98845a964_9_176"/>
          <p:cNvCxnSpPr>
            <a:stCxn id="693" idx="3"/>
            <a:endCxn id="656" idx="1"/>
          </p:cNvCxnSpPr>
          <p:nvPr/>
        </p:nvCxnSpPr>
        <p:spPr>
          <a:xfrm flipH="1" rot="10800000">
            <a:off x="1322438" y="2360025"/>
            <a:ext cx="13539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g3d98845a964_9_176"/>
          <p:cNvSpPr txBox="1"/>
          <p:nvPr/>
        </p:nvSpPr>
        <p:spPr>
          <a:xfrm>
            <a:off x="370150" y="2748413"/>
            <a:ext cx="15525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Weather Conditions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93" name="Google Shape;693;g3d98845a964_9_176"/>
          <p:cNvSpPr txBox="1"/>
          <p:nvPr/>
        </p:nvSpPr>
        <p:spPr>
          <a:xfrm>
            <a:off x="956738" y="21774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01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grpSp>
        <p:nvGrpSpPr>
          <p:cNvPr id="695" name="Google Shape;695;g3d98845a964_9_176"/>
          <p:cNvGrpSpPr/>
          <p:nvPr/>
        </p:nvGrpSpPr>
        <p:grpSpPr>
          <a:xfrm>
            <a:off x="960069" y="1684094"/>
            <a:ext cx="372675" cy="345000"/>
            <a:chOff x="3221113" y="2520150"/>
            <a:chExt cx="372675" cy="345000"/>
          </a:xfrm>
        </p:grpSpPr>
        <p:sp>
          <p:nvSpPr>
            <p:cNvPr id="696" name="Google Shape;696;g3d98845a964_9_176"/>
            <p:cNvSpPr/>
            <p:nvPr/>
          </p:nvSpPr>
          <p:spPr>
            <a:xfrm>
              <a:off x="3554288" y="2774400"/>
              <a:ext cx="14875" cy="43850"/>
            </a:xfrm>
            <a:custGeom>
              <a:rect b="b" l="l" r="r" t="t"/>
              <a:pathLst>
                <a:path extrusionOk="0" h="1754" w="595">
                  <a:moveTo>
                    <a:pt x="0" y="0"/>
                  </a:moveTo>
                  <a:lnTo>
                    <a:pt x="0" y="1753"/>
                  </a:lnTo>
                  <a:lnTo>
                    <a:pt x="595" y="175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d98845a964_9_176"/>
            <p:cNvSpPr/>
            <p:nvPr/>
          </p:nvSpPr>
          <p:spPr>
            <a:xfrm>
              <a:off x="3295938" y="2550150"/>
              <a:ext cx="87425" cy="151750"/>
            </a:xfrm>
            <a:custGeom>
              <a:rect b="b" l="l" r="r" t="t"/>
              <a:pathLst>
                <a:path extrusionOk="0" h="6070" w="3497">
                  <a:moveTo>
                    <a:pt x="2174" y="0"/>
                  </a:moveTo>
                  <a:lnTo>
                    <a:pt x="1662" y="298"/>
                  </a:lnTo>
                  <a:lnTo>
                    <a:pt x="2266" y="1282"/>
                  </a:lnTo>
                  <a:cubicBezTo>
                    <a:pt x="2389" y="1456"/>
                    <a:pt x="2389" y="1671"/>
                    <a:pt x="2266" y="1835"/>
                  </a:cubicBezTo>
                  <a:lnTo>
                    <a:pt x="2266" y="1876"/>
                  </a:lnTo>
                  <a:cubicBezTo>
                    <a:pt x="1959" y="2348"/>
                    <a:pt x="2092" y="2953"/>
                    <a:pt x="2523" y="3332"/>
                  </a:cubicBezTo>
                  <a:lnTo>
                    <a:pt x="2646" y="3414"/>
                  </a:lnTo>
                  <a:cubicBezTo>
                    <a:pt x="2820" y="3547"/>
                    <a:pt x="2902" y="3763"/>
                    <a:pt x="2861" y="3927"/>
                  </a:cubicBezTo>
                  <a:lnTo>
                    <a:pt x="2820" y="4101"/>
                  </a:lnTo>
                  <a:cubicBezTo>
                    <a:pt x="2779" y="4357"/>
                    <a:pt x="2564" y="4531"/>
                    <a:pt x="2307" y="4531"/>
                  </a:cubicBezTo>
                  <a:lnTo>
                    <a:pt x="1580" y="4531"/>
                  </a:lnTo>
                  <a:cubicBezTo>
                    <a:pt x="1282" y="4531"/>
                    <a:pt x="1026" y="4654"/>
                    <a:pt x="811" y="4870"/>
                  </a:cubicBezTo>
                  <a:lnTo>
                    <a:pt x="1" y="5639"/>
                  </a:lnTo>
                  <a:lnTo>
                    <a:pt x="421" y="6069"/>
                  </a:lnTo>
                  <a:lnTo>
                    <a:pt x="1241" y="5259"/>
                  </a:lnTo>
                  <a:cubicBezTo>
                    <a:pt x="1323" y="5167"/>
                    <a:pt x="1446" y="5126"/>
                    <a:pt x="1580" y="5126"/>
                  </a:cubicBezTo>
                  <a:lnTo>
                    <a:pt x="2307" y="5126"/>
                  </a:lnTo>
                  <a:cubicBezTo>
                    <a:pt x="2861" y="5126"/>
                    <a:pt x="3333" y="4747"/>
                    <a:pt x="3415" y="4183"/>
                  </a:cubicBezTo>
                  <a:lnTo>
                    <a:pt x="3456" y="4019"/>
                  </a:lnTo>
                  <a:cubicBezTo>
                    <a:pt x="3497" y="3629"/>
                    <a:pt x="3333" y="3250"/>
                    <a:pt x="3035" y="2994"/>
                  </a:cubicBezTo>
                  <a:lnTo>
                    <a:pt x="2861" y="2860"/>
                  </a:lnTo>
                  <a:cubicBezTo>
                    <a:pt x="2687" y="2696"/>
                    <a:pt x="2605" y="2389"/>
                    <a:pt x="2779" y="2184"/>
                  </a:cubicBezTo>
                  <a:lnTo>
                    <a:pt x="2779" y="2133"/>
                  </a:lnTo>
                  <a:cubicBezTo>
                    <a:pt x="2984" y="1753"/>
                    <a:pt x="2984" y="1323"/>
                    <a:pt x="2779" y="943"/>
                  </a:cubicBezTo>
                  <a:lnTo>
                    <a:pt x="217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d98845a964_9_176"/>
            <p:cNvSpPr/>
            <p:nvPr/>
          </p:nvSpPr>
          <p:spPr>
            <a:xfrm>
              <a:off x="3420763" y="2565000"/>
              <a:ext cx="88700" cy="178400"/>
            </a:xfrm>
            <a:custGeom>
              <a:rect b="b" l="l" r="r" t="t"/>
              <a:pathLst>
                <a:path extrusionOk="0" h="7136" w="3548">
                  <a:moveTo>
                    <a:pt x="0" y="1"/>
                  </a:moveTo>
                  <a:lnTo>
                    <a:pt x="0" y="606"/>
                  </a:lnTo>
                  <a:cubicBezTo>
                    <a:pt x="1630" y="606"/>
                    <a:pt x="2953" y="1928"/>
                    <a:pt x="2953" y="3589"/>
                  </a:cubicBezTo>
                  <a:cubicBezTo>
                    <a:pt x="2953" y="5219"/>
                    <a:pt x="1630" y="6582"/>
                    <a:pt x="0" y="6582"/>
                  </a:cubicBezTo>
                  <a:lnTo>
                    <a:pt x="0" y="7136"/>
                  </a:lnTo>
                  <a:cubicBezTo>
                    <a:pt x="1969" y="7136"/>
                    <a:pt x="3547" y="5557"/>
                    <a:pt x="3547" y="3589"/>
                  </a:cubicBezTo>
                  <a:cubicBezTo>
                    <a:pt x="3547" y="1631"/>
                    <a:pt x="1969" y="1"/>
                    <a:pt x="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d98845a964_9_176"/>
            <p:cNvSpPr/>
            <p:nvPr/>
          </p:nvSpPr>
          <p:spPr>
            <a:xfrm>
              <a:off x="3221113" y="2520150"/>
              <a:ext cx="372675" cy="345000"/>
            </a:xfrm>
            <a:custGeom>
              <a:rect b="b" l="l" r="r" t="t"/>
              <a:pathLst>
                <a:path extrusionOk="0" h="13800" w="14907">
                  <a:moveTo>
                    <a:pt x="8243" y="4194"/>
                  </a:moveTo>
                  <a:cubicBezTo>
                    <a:pt x="8796" y="4317"/>
                    <a:pt x="9186" y="4788"/>
                    <a:pt x="9186" y="5383"/>
                  </a:cubicBezTo>
                  <a:cubicBezTo>
                    <a:pt x="9186" y="5947"/>
                    <a:pt x="8796" y="6459"/>
                    <a:pt x="8243" y="6582"/>
                  </a:cubicBezTo>
                  <a:lnTo>
                    <a:pt x="8243" y="4194"/>
                  </a:lnTo>
                  <a:close/>
                  <a:moveTo>
                    <a:pt x="7689" y="606"/>
                  </a:moveTo>
                  <a:lnTo>
                    <a:pt x="7689" y="8376"/>
                  </a:lnTo>
                  <a:lnTo>
                    <a:pt x="4275" y="8376"/>
                  </a:lnTo>
                  <a:cubicBezTo>
                    <a:pt x="3588" y="7525"/>
                    <a:pt x="3209" y="6459"/>
                    <a:pt x="3209" y="5383"/>
                  </a:cubicBezTo>
                  <a:cubicBezTo>
                    <a:pt x="3209" y="2871"/>
                    <a:pt x="5167" y="770"/>
                    <a:pt x="7689" y="606"/>
                  </a:cubicBezTo>
                  <a:close/>
                  <a:moveTo>
                    <a:pt x="8243" y="606"/>
                  </a:moveTo>
                  <a:cubicBezTo>
                    <a:pt x="10764" y="770"/>
                    <a:pt x="12733" y="2871"/>
                    <a:pt x="12733" y="5383"/>
                  </a:cubicBezTo>
                  <a:cubicBezTo>
                    <a:pt x="12733" y="6459"/>
                    <a:pt x="12343" y="7525"/>
                    <a:pt x="11667" y="8376"/>
                  </a:cubicBezTo>
                  <a:lnTo>
                    <a:pt x="8243" y="8376"/>
                  </a:lnTo>
                  <a:lnTo>
                    <a:pt x="8243" y="7177"/>
                  </a:lnTo>
                  <a:cubicBezTo>
                    <a:pt x="9145" y="7054"/>
                    <a:pt x="9780" y="6285"/>
                    <a:pt x="9780" y="5383"/>
                  </a:cubicBezTo>
                  <a:cubicBezTo>
                    <a:pt x="9780" y="4491"/>
                    <a:pt x="9145" y="3722"/>
                    <a:pt x="8243" y="3589"/>
                  </a:cubicBezTo>
                  <a:lnTo>
                    <a:pt x="8243" y="606"/>
                  </a:lnTo>
                  <a:close/>
                  <a:moveTo>
                    <a:pt x="13799" y="8930"/>
                  </a:moveTo>
                  <a:cubicBezTo>
                    <a:pt x="14014" y="8930"/>
                    <a:pt x="14229" y="9145"/>
                    <a:pt x="14270" y="9360"/>
                  </a:cubicBezTo>
                  <a:cubicBezTo>
                    <a:pt x="14311" y="9658"/>
                    <a:pt x="14055" y="9914"/>
                    <a:pt x="13799" y="9914"/>
                  </a:cubicBezTo>
                  <a:lnTo>
                    <a:pt x="3845" y="9914"/>
                  </a:lnTo>
                  <a:cubicBezTo>
                    <a:pt x="3158" y="9914"/>
                    <a:pt x="2604" y="10468"/>
                    <a:pt x="2645" y="11113"/>
                  </a:cubicBezTo>
                  <a:cubicBezTo>
                    <a:pt x="2697" y="11749"/>
                    <a:pt x="3209" y="12221"/>
                    <a:pt x="3804" y="12221"/>
                  </a:cubicBezTo>
                  <a:lnTo>
                    <a:pt x="13799" y="12221"/>
                  </a:lnTo>
                  <a:cubicBezTo>
                    <a:pt x="14055" y="12221"/>
                    <a:pt x="14270" y="12436"/>
                    <a:pt x="14270" y="12692"/>
                  </a:cubicBezTo>
                  <a:lnTo>
                    <a:pt x="14270" y="13072"/>
                  </a:lnTo>
                  <a:cubicBezTo>
                    <a:pt x="14270" y="13164"/>
                    <a:pt x="14229" y="13205"/>
                    <a:pt x="14137" y="13205"/>
                  </a:cubicBezTo>
                  <a:lnTo>
                    <a:pt x="2994" y="13205"/>
                  </a:lnTo>
                  <a:cubicBezTo>
                    <a:pt x="2861" y="13205"/>
                    <a:pt x="2738" y="13164"/>
                    <a:pt x="2645" y="13072"/>
                  </a:cubicBezTo>
                  <a:cubicBezTo>
                    <a:pt x="687" y="11237"/>
                    <a:pt x="1969" y="8930"/>
                    <a:pt x="3804" y="8930"/>
                  </a:cubicBezTo>
                  <a:close/>
                  <a:moveTo>
                    <a:pt x="7945" y="1"/>
                  </a:moveTo>
                  <a:cubicBezTo>
                    <a:pt x="5003" y="1"/>
                    <a:pt x="2604" y="2441"/>
                    <a:pt x="2604" y="5383"/>
                  </a:cubicBezTo>
                  <a:cubicBezTo>
                    <a:pt x="2604" y="6459"/>
                    <a:pt x="2953" y="7484"/>
                    <a:pt x="3547" y="8376"/>
                  </a:cubicBezTo>
                  <a:cubicBezTo>
                    <a:pt x="1415" y="8592"/>
                    <a:pt x="0" y="11237"/>
                    <a:pt x="2133" y="13461"/>
                  </a:cubicBezTo>
                  <a:cubicBezTo>
                    <a:pt x="2307" y="13635"/>
                    <a:pt x="2697" y="13799"/>
                    <a:pt x="2953" y="13799"/>
                  </a:cubicBezTo>
                  <a:lnTo>
                    <a:pt x="14434" y="13799"/>
                  </a:lnTo>
                  <a:cubicBezTo>
                    <a:pt x="14650" y="13799"/>
                    <a:pt x="14865" y="13584"/>
                    <a:pt x="14865" y="13379"/>
                  </a:cubicBezTo>
                  <a:lnTo>
                    <a:pt x="14865" y="12221"/>
                  </a:lnTo>
                  <a:cubicBezTo>
                    <a:pt x="14865" y="11923"/>
                    <a:pt x="14568" y="11626"/>
                    <a:pt x="14270" y="11626"/>
                  </a:cubicBezTo>
                  <a:lnTo>
                    <a:pt x="3670" y="11626"/>
                  </a:lnTo>
                  <a:cubicBezTo>
                    <a:pt x="3588" y="11626"/>
                    <a:pt x="3506" y="11626"/>
                    <a:pt x="3465" y="11534"/>
                  </a:cubicBezTo>
                  <a:cubicBezTo>
                    <a:pt x="3035" y="11072"/>
                    <a:pt x="3373" y="10468"/>
                    <a:pt x="3845" y="10468"/>
                  </a:cubicBezTo>
                  <a:lnTo>
                    <a:pt x="13758" y="10468"/>
                  </a:lnTo>
                  <a:cubicBezTo>
                    <a:pt x="14311" y="10468"/>
                    <a:pt x="14783" y="10088"/>
                    <a:pt x="14865" y="9535"/>
                  </a:cubicBezTo>
                  <a:cubicBezTo>
                    <a:pt x="14906" y="8889"/>
                    <a:pt x="14393" y="8376"/>
                    <a:pt x="13799" y="8376"/>
                  </a:cubicBezTo>
                  <a:lnTo>
                    <a:pt x="12435" y="8376"/>
                  </a:lnTo>
                  <a:cubicBezTo>
                    <a:pt x="12989" y="7484"/>
                    <a:pt x="13327" y="6459"/>
                    <a:pt x="13327" y="5383"/>
                  </a:cubicBezTo>
                  <a:cubicBezTo>
                    <a:pt x="13327" y="2441"/>
                    <a:pt x="10939" y="1"/>
                    <a:pt x="794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0" name="Google Shape;700;g3d98845a964_9_176"/>
          <p:cNvSpPr txBox="1"/>
          <p:nvPr/>
        </p:nvSpPr>
        <p:spPr>
          <a:xfrm>
            <a:off x="5529425" y="2834919"/>
            <a:ext cx="1552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Lagged Historical Demand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cxnSp>
        <p:nvCxnSpPr>
          <p:cNvPr id="701" name="Google Shape;701;g3d98845a964_9_176"/>
          <p:cNvCxnSpPr/>
          <p:nvPr/>
        </p:nvCxnSpPr>
        <p:spPr>
          <a:xfrm rot="5400000">
            <a:off x="6967446" y="3253081"/>
            <a:ext cx="410400" cy="1733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g3d98845a964_9_176"/>
          <p:cNvCxnSpPr>
            <a:stCxn id="657" idx="3"/>
            <a:endCxn id="703" idx="1"/>
          </p:cNvCxnSpPr>
          <p:nvPr/>
        </p:nvCxnSpPr>
        <p:spPr>
          <a:xfrm>
            <a:off x="6488541" y="2360031"/>
            <a:ext cx="13374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3" name="Google Shape;703;g3d98845a964_9_176"/>
          <p:cNvSpPr txBox="1"/>
          <p:nvPr/>
        </p:nvSpPr>
        <p:spPr>
          <a:xfrm>
            <a:off x="7825984" y="2184693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</a:t>
            </a:r>
            <a:r>
              <a:rPr lang="en-US" sz="11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5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grpSp>
        <p:nvGrpSpPr>
          <p:cNvPr id="704" name="Google Shape;704;g3d98845a964_9_176"/>
          <p:cNvGrpSpPr/>
          <p:nvPr/>
        </p:nvGrpSpPr>
        <p:grpSpPr>
          <a:xfrm>
            <a:off x="7811165" y="1688356"/>
            <a:ext cx="343975" cy="343725"/>
            <a:chOff x="4744988" y="1976825"/>
            <a:chExt cx="343975" cy="343725"/>
          </a:xfrm>
        </p:grpSpPr>
        <p:sp>
          <p:nvSpPr>
            <p:cNvPr id="705" name="Google Shape;705;g3d98845a964_9_176"/>
            <p:cNvSpPr/>
            <p:nvPr/>
          </p:nvSpPr>
          <p:spPr>
            <a:xfrm>
              <a:off x="4788813" y="2020400"/>
              <a:ext cx="47950" cy="59125"/>
            </a:xfrm>
            <a:custGeom>
              <a:rect b="b" l="l" r="r" t="t"/>
              <a:pathLst>
                <a:path extrusionOk="0" h="2365" w="1918">
                  <a:moveTo>
                    <a:pt x="298" y="1"/>
                  </a:moveTo>
                  <a:cubicBezTo>
                    <a:pt x="165" y="1"/>
                    <a:pt x="42" y="134"/>
                    <a:pt x="1" y="257"/>
                  </a:cubicBezTo>
                  <a:cubicBezTo>
                    <a:pt x="1" y="431"/>
                    <a:pt x="124" y="605"/>
                    <a:pt x="298" y="605"/>
                  </a:cubicBezTo>
                  <a:lnTo>
                    <a:pt x="677" y="605"/>
                  </a:lnTo>
                  <a:lnTo>
                    <a:pt x="677" y="2051"/>
                  </a:lnTo>
                  <a:cubicBezTo>
                    <a:pt x="677" y="2184"/>
                    <a:pt x="770" y="2307"/>
                    <a:pt x="893" y="2358"/>
                  </a:cubicBezTo>
                  <a:cubicBezTo>
                    <a:pt x="914" y="2363"/>
                    <a:pt x="935" y="2365"/>
                    <a:pt x="955" y="2365"/>
                  </a:cubicBezTo>
                  <a:cubicBezTo>
                    <a:pt x="1133" y="2365"/>
                    <a:pt x="1241" y="2208"/>
                    <a:pt x="1241" y="2051"/>
                  </a:cubicBezTo>
                  <a:lnTo>
                    <a:pt x="1241" y="605"/>
                  </a:lnTo>
                  <a:lnTo>
                    <a:pt x="1620" y="605"/>
                  </a:lnTo>
                  <a:cubicBezTo>
                    <a:pt x="1754" y="605"/>
                    <a:pt x="1877" y="513"/>
                    <a:pt x="1918" y="349"/>
                  </a:cubicBezTo>
                  <a:cubicBezTo>
                    <a:pt x="1918" y="175"/>
                    <a:pt x="1795" y="1"/>
                    <a:pt x="162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d98845a964_9_176"/>
            <p:cNvSpPr/>
            <p:nvPr/>
          </p:nvSpPr>
          <p:spPr>
            <a:xfrm>
              <a:off x="4744988" y="1976825"/>
              <a:ext cx="343975" cy="343725"/>
            </a:xfrm>
            <a:custGeom>
              <a:rect b="b" l="l" r="r" t="t"/>
              <a:pathLst>
                <a:path extrusionOk="0" h="13749" w="13759">
                  <a:moveTo>
                    <a:pt x="6582" y="595"/>
                  </a:moveTo>
                  <a:lnTo>
                    <a:pt x="6582" y="8756"/>
                  </a:lnTo>
                  <a:lnTo>
                    <a:pt x="595" y="8756"/>
                  </a:lnTo>
                  <a:lnTo>
                    <a:pt x="595" y="1108"/>
                  </a:lnTo>
                  <a:cubicBezTo>
                    <a:pt x="595" y="811"/>
                    <a:pt x="811" y="595"/>
                    <a:pt x="1108" y="595"/>
                  </a:cubicBezTo>
                  <a:close/>
                  <a:moveTo>
                    <a:pt x="12641" y="595"/>
                  </a:moveTo>
                  <a:cubicBezTo>
                    <a:pt x="12938" y="595"/>
                    <a:pt x="13153" y="811"/>
                    <a:pt x="13153" y="1108"/>
                  </a:cubicBezTo>
                  <a:lnTo>
                    <a:pt x="13153" y="8756"/>
                  </a:lnTo>
                  <a:lnTo>
                    <a:pt x="7177" y="8756"/>
                  </a:lnTo>
                  <a:lnTo>
                    <a:pt x="7177" y="595"/>
                  </a:lnTo>
                  <a:close/>
                  <a:moveTo>
                    <a:pt x="13153" y="9350"/>
                  </a:moveTo>
                  <a:lnTo>
                    <a:pt x="13153" y="10201"/>
                  </a:lnTo>
                  <a:cubicBezTo>
                    <a:pt x="13153" y="10509"/>
                    <a:pt x="12938" y="10714"/>
                    <a:pt x="12641" y="10714"/>
                  </a:cubicBezTo>
                  <a:lnTo>
                    <a:pt x="1108" y="10714"/>
                  </a:lnTo>
                  <a:cubicBezTo>
                    <a:pt x="811" y="10714"/>
                    <a:pt x="595" y="10509"/>
                    <a:pt x="595" y="10201"/>
                  </a:cubicBezTo>
                  <a:lnTo>
                    <a:pt x="595" y="9350"/>
                  </a:lnTo>
                  <a:close/>
                  <a:moveTo>
                    <a:pt x="8120" y="11318"/>
                  </a:moveTo>
                  <a:cubicBezTo>
                    <a:pt x="8161" y="11954"/>
                    <a:pt x="8325" y="12600"/>
                    <a:pt x="8581" y="13194"/>
                  </a:cubicBezTo>
                  <a:lnTo>
                    <a:pt x="5167" y="13194"/>
                  </a:lnTo>
                  <a:cubicBezTo>
                    <a:pt x="5424" y="12600"/>
                    <a:pt x="5598" y="11954"/>
                    <a:pt x="5639" y="11318"/>
                  </a:cubicBezTo>
                  <a:close/>
                  <a:moveTo>
                    <a:pt x="1108" y="1"/>
                  </a:moveTo>
                  <a:cubicBezTo>
                    <a:pt x="472" y="1"/>
                    <a:pt x="1" y="462"/>
                    <a:pt x="1" y="1108"/>
                  </a:cubicBezTo>
                  <a:lnTo>
                    <a:pt x="1" y="10252"/>
                  </a:lnTo>
                  <a:cubicBezTo>
                    <a:pt x="1" y="10847"/>
                    <a:pt x="472" y="11318"/>
                    <a:pt x="1108" y="11318"/>
                  </a:cubicBezTo>
                  <a:lnTo>
                    <a:pt x="4993" y="11318"/>
                  </a:lnTo>
                  <a:cubicBezTo>
                    <a:pt x="4952" y="11954"/>
                    <a:pt x="4788" y="12600"/>
                    <a:pt x="4481" y="13153"/>
                  </a:cubicBezTo>
                  <a:lnTo>
                    <a:pt x="3589" y="13153"/>
                  </a:lnTo>
                  <a:cubicBezTo>
                    <a:pt x="3455" y="13153"/>
                    <a:pt x="3332" y="13276"/>
                    <a:pt x="3291" y="13410"/>
                  </a:cubicBezTo>
                  <a:cubicBezTo>
                    <a:pt x="3291" y="13584"/>
                    <a:pt x="3414" y="13748"/>
                    <a:pt x="3589" y="13748"/>
                  </a:cubicBezTo>
                  <a:lnTo>
                    <a:pt x="10170" y="13748"/>
                  </a:lnTo>
                  <a:cubicBezTo>
                    <a:pt x="10293" y="13748"/>
                    <a:pt x="10427" y="13666"/>
                    <a:pt x="10468" y="13492"/>
                  </a:cubicBezTo>
                  <a:cubicBezTo>
                    <a:pt x="10468" y="13328"/>
                    <a:pt x="10334" y="13153"/>
                    <a:pt x="10170" y="13153"/>
                  </a:cubicBezTo>
                  <a:lnTo>
                    <a:pt x="9227" y="13153"/>
                  </a:lnTo>
                  <a:cubicBezTo>
                    <a:pt x="8930" y="12600"/>
                    <a:pt x="8756" y="11954"/>
                    <a:pt x="8715" y="11318"/>
                  </a:cubicBezTo>
                  <a:lnTo>
                    <a:pt x="12641" y="11318"/>
                  </a:lnTo>
                  <a:cubicBezTo>
                    <a:pt x="13287" y="11318"/>
                    <a:pt x="13758" y="10847"/>
                    <a:pt x="13758" y="10252"/>
                  </a:cubicBezTo>
                  <a:lnTo>
                    <a:pt x="13758" y="1108"/>
                  </a:lnTo>
                  <a:cubicBezTo>
                    <a:pt x="13758" y="462"/>
                    <a:pt x="13287" y="1"/>
                    <a:pt x="1264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d98845a964_9_176"/>
            <p:cNvSpPr/>
            <p:nvPr/>
          </p:nvSpPr>
          <p:spPr>
            <a:xfrm>
              <a:off x="4843163" y="2064225"/>
              <a:ext cx="38450" cy="15150"/>
            </a:xfrm>
            <a:custGeom>
              <a:rect b="b" l="l" r="r" t="t"/>
              <a:pathLst>
                <a:path extrusionOk="0" h="606" w="1538">
                  <a:moveTo>
                    <a:pt x="349" y="1"/>
                  </a:moveTo>
                  <a:cubicBezTo>
                    <a:pt x="133" y="1"/>
                    <a:pt x="0" y="175"/>
                    <a:pt x="41" y="349"/>
                  </a:cubicBezTo>
                  <a:cubicBezTo>
                    <a:pt x="41" y="513"/>
                    <a:pt x="174" y="605"/>
                    <a:pt x="349" y="605"/>
                  </a:cubicBezTo>
                  <a:lnTo>
                    <a:pt x="1199" y="605"/>
                  </a:lnTo>
                  <a:cubicBezTo>
                    <a:pt x="1374" y="605"/>
                    <a:pt x="1538" y="431"/>
                    <a:pt x="1497" y="257"/>
                  </a:cubicBezTo>
                  <a:cubicBezTo>
                    <a:pt x="1456" y="134"/>
                    <a:pt x="1323" y="1"/>
                    <a:pt x="119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3d98845a964_9_176"/>
            <p:cNvSpPr/>
            <p:nvPr/>
          </p:nvSpPr>
          <p:spPr>
            <a:xfrm>
              <a:off x="4788813" y="21080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513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134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3d98845a964_9_176"/>
            <p:cNvSpPr/>
            <p:nvPr/>
          </p:nvSpPr>
          <p:spPr>
            <a:xfrm>
              <a:off x="4788813" y="2151875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83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d98845a964_9_176"/>
            <p:cNvSpPr/>
            <p:nvPr/>
          </p:nvSpPr>
          <p:spPr>
            <a:xfrm>
              <a:off x="4953088" y="2108050"/>
              <a:ext cx="92050" cy="14900"/>
            </a:xfrm>
            <a:custGeom>
              <a:rect b="b" l="l" r="r" t="t"/>
              <a:pathLst>
                <a:path extrusionOk="0" h="596" w="3682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513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3d98845a964_9_176"/>
            <p:cNvSpPr/>
            <p:nvPr/>
          </p:nvSpPr>
          <p:spPr>
            <a:xfrm>
              <a:off x="4953088" y="2064225"/>
              <a:ext cx="92050" cy="15150"/>
            </a:xfrm>
            <a:custGeom>
              <a:rect b="b" l="l" r="r" t="t"/>
              <a:pathLst>
                <a:path extrusionOk="0" h="606" w="3682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3d98845a964_9_176"/>
            <p:cNvSpPr/>
            <p:nvPr/>
          </p:nvSpPr>
          <p:spPr>
            <a:xfrm>
              <a:off x="4953088" y="2020400"/>
              <a:ext cx="92050" cy="15150"/>
            </a:xfrm>
            <a:custGeom>
              <a:rect b="b" l="l" r="r" t="t"/>
              <a:pathLst>
                <a:path extrusionOk="0" h="606" w="3682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d98845a964_9_176"/>
            <p:cNvSpPr/>
            <p:nvPr/>
          </p:nvSpPr>
          <p:spPr>
            <a:xfrm>
              <a:off x="4953088" y="2151875"/>
              <a:ext cx="70525" cy="14900"/>
            </a:xfrm>
            <a:custGeom>
              <a:rect b="b" l="l" r="r" t="t"/>
              <a:pathLst>
                <a:path extrusionOk="0" h="596" w="2821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2482" y="595"/>
                  </a:lnTo>
                  <a:cubicBezTo>
                    <a:pt x="2656" y="595"/>
                    <a:pt x="2820" y="431"/>
                    <a:pt x="2779" y="257"/>
                  </a:cubicBezTo>
                  <a:cubicBezTo>
                    <a:pt x="2779" y="83"/>
                    <a:pt x="2656" y="1"/>
                    <a:pt x="248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4" name="Google Shape;714;g3d98845a964_9_176"/>
          <p:cNvSpPr txBox="1"/>
          <p:nvPr/>
        </p:nvSpPr>
        <p:spPr>
          <a:xfrm>
            <a:off x="7225750" y="2966408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….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715" name="Google Shape;715;g3d98845a964_9_176"/>
          <p:cNvSpPr txBox="1"/>
          <p:nvPr>
            <p:ph idx="4294967295" type="title"/>
          </p:nvPr>
        </p:nvSpPr>
        <p:spPr>
          <a:xfrm>
            <a:off x="233255" y="230995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d98845a964_9_239"/>
          <p:cNvSpPr txBox="1"/>
          <p:nvPr>
            <p:ph type="title"/>
          </p:nvPr>
        </p:nvSpPr>
        <p:spPr>
          <a:xfrm>
            <a:off x="1440000" y="363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Content Overview</a:t>
            </a:r>
            <a:endParaRPr/>
          </a:p>
        </p:txBody>
      </p:sp>
      <p:sp>
        <p:nvSpPr>
          <p:cNvPr id="721" name="Google Shape;721;g3d98845a964_9_239"/>
          <p:cNvSpPr txBox="1"/>
          <p:nvPr>
            <p:ph idx="13" type="subTitle"/>
          </p:nvPr>
        </p:nvSpPr>
        <p:spPr>
          <a:xfrm>
            <a:off x="5877652" y="2574930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Conclusion</a:t>
            </a:r>
            <a:endParaRPr sz="2400"/>
          </a:p>
        </p:txBody>
      </p:sp>
      <p:sp>
        <p:nvSpPr>
          <p:cNvPr id="722" name="Google Shape;722;g3d98845a964_9_239"/>
          <p:cNvSpPr txBox="1"/>
          <p:nvPr>
            <p:ph idx="8" type="subTitle"/>
          </p:nvPr>
        </p:nvSpPr>
        <p:spPr>
          <a:xfrm>
            <a:off x="3256585" y="2583073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Methodology</a:t>
            </a:r>
            <a:endParaRPr sz="2400"/>
          </a:p>
        </p:txBody>
      </p:sp>
      <p:sp>
        <p:nvSpPr>
          <p:cNvPr id="723" name="Google Shape;723;g3d98845a964_9_239"/>
          <p:cNvSpPr txBox="1"/>
          <p:nvPr>
            <p:ph idx="7" type="subTitle"/>
          </p:nvPr>
        </p:nvSpPr>
        <p:spPr>
          <a:xfrm>
            <a:off x="841627" y="2598427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EDA</a:t>
            </a:r>
            <a:endParaRPr sz="2400"/>
          </a:p>
        </p:txBody>
      </p:sp>
      <p:grpSp>
        <p:nvGrpSpPr>
          <p:cNvPr id="724" name="Google Shape;724;g3d98845a964_9_239"/>
          <p:cNvGrpSpPr/>
          <p:nvPr/>
        </p:nvGrpSpPr>
        <p:grpSpPr>
          <a:xfrm>
            <a:off x="6806752" y="2228060"/>
            <a:ext cx="345000" cy="255300"/>
            <a:chOff x="3247763" y="3702400"/>
            <a:chExt cx="345000" cy="255300"/>
          </a:xfrm>
        </p:grpSpPr>
        <p:sp>
          <p:nvSpPr>
            <p:cNvPr id="725" name="Google Shape;725;g3d98845a964_9_239"/>
            <p:cNvSpPr/>
            <p:nvPr/>
          </p:nvSpPr>
          <p:spPr>
            <a:xfrm>
              <a:off x="3466638" y="3704450"/>
              <a:ext cx="47175" cy="212500"/>
            </a:xfrm>
            <a:custGeom>
              <a:rect b="b" l="l" r="r" t="t"/>
              <a:pathLst>
                <a:path extrusionOk="0" h="8500" w="1887">
                  <a:moveTo>
                    <a:pt x="564" y="1"/>
                  </a:moveTo>
                  <a:lnTo>
                    <a:pt x="134" y="431"/>
                  </a:lnTo>
                  <a:lnTo>
                    <a:pt x="984" y="1323"/>
                  </a:lnTo>
                  <a:lnTo>
                    <a:pt x="134" y="2184"/>
                  </a:lnTo>
                  <a:cubicBezTo>
                    <a:pt x="52" y="2266"/>
                    <a:pt x="52" y="2307"/>
                    <a:pt x="52" y="2400"/>
                  </a:cubicBezTo>
                  <a:cubicBezTo>
                    <a:pt x="52" y="2482"/>
                    <a:pt x="52" y="2564"/>
                    <a:pt x="134" y="2605"/>
                  </a:cubicBezTo>
                  <a:lnTo>
                    <a:pt x="984" y="3507"/>
                  </a:lnTo>
                  <a:lnTo>
                    <a:pt x="134" y="4399"/>
                  </a:lnTo>
                  <a:cubicBezTo>
                    <a:pt x="0" y="4491"/>
                    <a:pt x="0" y="4706"/>
                    <a:pt x="134" y="4788"/>
                  </a:cubicBezTo>
                  <a:lnTo>
                    <a:pt x="984" y="5680"/>
                  </a:lnTo>
                  <a:lnTo>
                    <a:pt x="134" y="6582"/>
                  </a:lnTo>
                  <a:cubicBezTo>
                    <a:pt x="0" y="6664"/>
                    <a:pt x="0" y="6839"/>
                    <a:pt x="93" y="6962"/>
                  </a:cubicBezTo>
                  <a:lnTo>
                    <a:pt x="1415" y="8499"/>
                  </a:lnTo>
                  <a:lnTo>
                    <a:pt x="1887" y="8120"/>
                  </a:lnTo>
                  <a:lnTo>
                    <a:pt x="728" y="6798"/>
                  </a:lnTo>
                  <a:lnTo>
                    <a:pt x="1630" y="5895"/>
                  </a:lnTo>
                  <a:cubicBezTo>
                    <a:pt x="1671" y="5854"/>
                    <a:pt x="1712" y="5772"/>
                    <a:pt x="1712" y="5680"/>
                  </a:cubicBezTo>
                  <a:cubicBezTo>
                    <a:pt x="1712" y="5598"/>
                    <a:pt x="1671" y="5516"/>
                    <a:pt x="1630" y="5475"/>
                  </a:cubicBezTo>
                  <a:lnTo>
                    <a:pt x="728" y="4573"/>
                  </a:lnTo>
                  <a:lnTo>
                    <a:pt x="1630" y="3722"/>
                  </a:lnTo>
                  <a:cubicBezTo>
                    <a:pt x="1671" y="3630"/>
                    <a:pt x="1712" y="3589"/>
                    <a:pt x="1712" y="3507"/>
                  </a:cubicBezTo>
                  <a:cubicBezTo>
                    <a:pt x="1712" y="3425"/>
                    <a:pt x="1671" y="3333"/>
                    <a:pt x="1630" y="3292"/>
                  </a:cubicBezTo>
                  <a:lnTo>
                    <a:pt x="728" y="2400"/>
                  </a:lnTo>
                  <a:lnTo>
                    <a:pt x="1630" y="1539"/>
                  </a:lnTo>
                  <a:cubicBezTo>
                    <a:pt x="1753" y="1416"/>
                    <a:pt x="1753" y="1200"/>
                    <a:pt x="1630" y="1118"/>
                  </a:cubicBezTo>
                  <a:lnTo>
                    <a:pt x="56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d98845a964_9_239"/>
            <p:cNvSpPr/>
            <p:nvPr/>
          </p:nvSpPr>
          <p:spPr>
            <a:xfrm>
              <a:off x="3247763" y="3702400"/>
              <a:ext cx="345000" cy="255300"/>
            </a:xfrm>
            <a:custGeom>
              <a:rect b="b" l="l" r="r" t="t"/>
              <a:pathLst>
                <a:path extrusionOk="0" h="10212" w="13800">
                  <a:moveTo>
                    <a:pt x="5167" y="595"/>
                  </a:moveTo>
                  <a:cubicBezTo>
                    <a:pt x="5731" y="595"/>
                    <a:pt x="6244" y="852"/>
                    <a:pt x="6623" y="1282"/>
                  </a:cubicBezTo>
                  <a:lnTo>
                    <a:pt x="6623" y="2092"/>
                  </a:lnTo>
                  <a:lnTo>
                    <a:pt x="6623" y="8540"/>
                  </a:lnTo>
                  <a:cubicBezTo>
                    <a:pt x="6192" y="8243"/>
                    <a:pt x="5680" y="8069"/>
                    <a:pt x="5167" y="8069"/>
                  </a:cubicBez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13204" y="595"/>
                  </a:moveTo>
                  <a:lnTo>
                    <a:pt x="13204" y="8069"/>
                  </a:lnTo>
                  <a:lnTo>
                    <a:pt x="8632" y="8069"/>
                  </a:lnTo>
                  <a:cubicBezTo>
                    <a:pt x="8120" y="8069"/>
                    <a:pt x="7607" y="8243"/>
                    <a:pt x="7177" y="8540"/>
                  </a:cubicBezTo>
                  <a:lnTo>
                    <a:pt x="7177" y="2092"/>
                  </a:lnTo>
                  <a:lnTo>
                    <a:pt x="7177" y="1282"/>
                  </a:lnTo>
                  <a:cubicBezTo>
                    <a:pt x="7566" y="852"/>
                    <a:pt x="8079" y="595"/>
                    <a:pt x="8632" y="595"/>
                  </a:cubicBezTo>
                  <a:close/>
                  <a:moveTo>
                    <a:pt x="5167" y="8674"/>
                  </a:moveTo>
                  <a:cubicBezTo>
                    <a:pt x="5598" y="8674"/>
                    <a:pt x="6028" y="8838"/>
                    <a:pt x="6367" y="9094"/>
                  </a:cubicBezTo>
                  <a:cubicBezTo>
                    <a:pt x="6151" y="9227"/>
                    <a:pt x="5936" y="9401"/>
                    <a:pt x="5854" y="9606"/>
                  </a:cubicBezTo>
                  <a:lnTo>
                    <a:pt x="605" y="9606"/>
                  </a:lnTo>
                  <a:lnTo>
                    <a:pt x="605" y="8674"/>
                  </a:lnTo>
                  <a:close/>
                  <a:moveTo>
                    <a:pt x="13204" y="8674"/>
                  </a:moveTo>
                  <a:lnTo>
                    <a:pt x="13204" y="9606"/>
                  </a:lnTo>
                  <a:lnTo>
                    <a:pt x="7945" y="9606"/>
                  </a:lnTo>
                  <a:cubicBezTo>
                    <a:pt x="7863" y="9401"/>
                    <a:pt x="7648" y="9227"/>
                    <a:pt x="7433" y="9094"/>
                  </a:cubicBezTo>
                  <a:cubicBezTo>
                    <a:pt x="7781" y="8838"/>
                    <a:pt x="8202" y="8674"/>
                    <a:pt x="8632" y="8674"/>
                  </a:cubicBezTo>
                  <a:close/>
                  <a:moveTo>
                    <a:pt x="298" y="1"/>
                  </a:moveTo>
                  <a:cubicBezTo>
                    <a:pt x="134" y="1"/>
                    <a:pt x="1" y="124"/>
                    <a:pt x="1" y="298"/>
                  </a:cubicBezTo>
                  <a:lnTo>
                    <a:pt x="1" y="8417"/>
                  </a:lnTo>
                  <a:lnTo>
                    <a:pt x="1" y="9914"/>
                  </a:lnTo>
                  <a:cubicBezTo>
                    <a:pt x="1" y="10078"/>
                    <a:pt x="134" y="10211"/>
                    <a:pt x="298" y="10211"/>
                  </a:cubicBezTo>
                  <a:lnTo>
                    <a:pt x="6028" y="10211"/>
                  </a:lnTo>
                  <a:cubicBezTo>
                    <a:pt x="6151" y="10211"/>
                    <a:pt x="6285" y="10119"/>
                    <a:pt x="6326" y="9996"/>
                  </a:cubicBezTo>
                  <a:cubicBezTo>
                    <a:pt x="6408" y="9740"/>
                    <a:pt x="6623" y="9565"/>
                    <a:pt x="6879" y="9565"/>
                  </a:cubicBezTo>
                  <a:lnTo>
                    <a:pt x="6920" y="9565"/>
                  </a:lnTo>
                  <a:cubicBezTo>
                    <a:pt x="7177" y="9565"/>
                    <a:pt x="7392" y="9740"/>
                    <a:pt x="7474" y="9996"/>
                  </a:cubicBezTo>
                  <a:cubicBezTo>
                    <a:pt x="7525" y="10119"/>
                    <a:pt x="7648" y="10211"/>
                    <a:pt x="7781" y="10211"/>
                  </a:cubicBezTo>
                  <a:lnTo>
                    <a:pt x="13502" y="10211"/>
                  </a:lnTo>
                  <a:cubicBezTo>
                    <a:pt x="13676" y="10211"/>
                    <a:pt x="13799" y="10078"/>
                    <a:pt x="13799" y="9914"/>
                  </a:cubicBezTo>
                  <a:lnTo>
                    <a:pt x="13799" y="8376"/>
                  </a:lnTo>
                  <a:lnTo>
                    <a:pt x="13799" y="298"/>
                  </a:lnTo>
                  <a:cubicBezTo>
                    <a:pt x="13799" y="124"/>
                    <a:pt x="13676" y="1"/>
                    <a:pt x="13502" y="1"/>
                  </a:cubicBezTo>
                  <a:lnTo>
                    <a:pt x="8632" y="1"/>
                  </a:lnTo>
                  <a:cubicBezTo>
                    <a:pt x="7986" y="1"/>
                    <a:pt x="7351" y="257"/>
                    <a:pt x="6879" y="729"/>
                  </a:cubicBezTo>
                  <a:cubicBezTo>
                    <a:pt x="6449" y="257"/>
                    <a:pt x="5813" y="1"/>
                    <a:pt x="5167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d98845a964_9_239"/>
            <p:cNvSpPr/>
            <p:nvPr/>
          </p:nvSpPr>
          <p:spPr>
            <a:xfrm>
              <a:off x="3291588" y="3751625"/>
              <a:ext cx="93050" cy="14875"/>
            </a:xfrm>
            <a:custGeom>
              <a:rect b="b" l="l" r="r" t="t"/>
              <a:pathLst>
                <a:path extrusionOk="0" h="595" w="3722">
                  <a:moveTo>
                    <a:pt x="339" y="0"/>
                  </a:moveTo>
                  <a:cubicBezTo>
                    <a:pt x="17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373" y="595"/>
                  </a:lnTo>
                  <a:cubicBezTo>
                    <a:pt x="3589" y="595"/>
                    <a:pt x="3722" y="461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d98845a964_9_239"/>
            <p:cNvSpPr/>
            <p:nvPr/>
          </p:nvSpPr>
          <p:spPr>
            <a:xfrm>
              <a:off x="3291588" y="3800575"/>
              <a:ext cx="93050" cy="15125"/>
            </a:xfrm>
            <a:custGeom>
              <a:rect b="b" l="l" r="r" t="t"/>
              <a:pathLst>
                <a:path extrusionOk="0" h="605" w="3722">
                  <a:moveTo>
                    <a:pt x="339" y="0"/>
                  </a:moveTo>
                  <a:cubicBezTo>
                    <a:pt x="175" y="0"/>
                    <a:pt x="1" y="174"/>
                    <a:pt x="42" y="349"/>
                  </a:cubicBezTo>
                  <a:cubicBezTo>
                    <a:pt x="83" y="513"/>
                    <a:pt x="216" y="605"/>
                    <a:pt x="339" y="605"/>
                  </a:cubicBezTo>
                  <a:lnTo>
                    <a:pt x="3373" y="605"/>
                  </a:lnTo>
                  <a:cubicBezTo>
                    <a:pt x="3589" y="605"/>
                    <a:pt x="3722" y="472"/>
                    <a:pt x="3671" y="256"/>
                  </a:cubicBezTo>
                  <a:cubicBezTo>
                    <a:pt x="3671" y="13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d98845a964_9_239"/>
            <p:cNvSpPr/>
            <p:nvPr/>
          </p:nvSpPr>
          <p:spPr>
            <a:xfrm>
              <a:off x="3291588" y="3849775"/>
              <a:ext cx="82300" cy="14875"/>
            </a:xfrm>
            <a:custGeom>
              <a:rect b="b" l="l" r="r" t="t"/>
              <a:pathLst>
                <a:path extrusionOk="0" h="595" w="3292">
                  <a:moveTo>
                    <a:pt x="339" y="0"/>
                  </a:moveTo>
                  <a:cubicBezTo>
                    <a:pt x="175" y="0"/>
                    <a:pt x="1" y="175"/>
                    <a:pt x="42" y="339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2953" y="595"/>
                  </a:lnTo>
                  <a:cubicBezTo>
                    <a:pt x="3117" y="595"/>
                    <a:pt x="3291" y="431"/>
                    <a:pt x="3250" y="257"/>
                  </a:cubicBezTo>
                  <a:cubicBezTo>
                    <a:pt x="3250" y="123"/>
                    <a:pt x="3076" y="0"/>
                    <a:pt x="295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0" name="Google Shape;730;g3d98845a964_9_239"/>
          <p:cNvGrpSpPr/>
          <p:nvPr/>
        </p:nvGrpSpPr>
        <p:grpSpPr>
          <a:xfrm>
            <a:off x="1771252" y="2228058"/>
            <a:ext cx="343950" cy="277075"/>
            <a:chOff x="4735263" y="2554500"/>
            <a:chExt cx="343950" cy="277075"/>
          </a:xfrm>
        </p:grpSpPr>
        <p:sp>
          <p:nvSpPr>
            <p:cNvPr id="731" name="Google Shape;731;g3d98845a964_9_239"/>
            <p:cNvSpPr/>
            <p:nvPr/>
          </p:nvSpPr>
          <p:spPr>
            <a:xfrm>
              <a:off x="4942588" y="260345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16" y="605"/>
                    <a:pt x="339" y="605"/>
                  </a:cubicBezTo>
                  <a:lnTo>
                    <a:pt x="3414" y="605"/>
                  </a:lnTo>
                  <a:cubicBezTo>
                    <a:pt x="3589" y="605"/>
                    <a:pt x="3712" y="431"/>
                    <a:pt x="3671" y="257"/>
                  </a:cubicBezTo>
                  <a:cubicBezTo>
                    <a:pt x="3671" y="9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g3d98845a964_9_239"/>
            <p:cNvSpPr/>
            <p:nvPr/>
          </p:nvSpPr>
          <p:spPr>
            <a:xfrm>
              <a:off x="4833663" y="2652650"/>
              <a:ext cx="38475" cy="14900"/>
            </a:xfrm>
            <a:custGeom>
              <a:rect b="b" l="l" r="r" t="t"/>
              <a:pathLst>
                <a:path extrusionOk="0" h="596" w="1539">
                  <a:moveTo>
                    <a:pt x="339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6"/>
                    <a:pt x="339" y="596"/>
                  </a:cubicBezTo>
                  <a:lnTo>
                    <a:pt x="1190" y="596"/>
                  </a:lnTo>
                  <a:cubicBezTo>
                    <a:pt x="1364" y="596"/>
                    <a:pt x="1538" y="431"/>
                    <a:pt x="1497" y="257"/>
                  </a:cubicBezTo>
                  <a:cubicBezTo>
                    <a:pt x="1446" y="83"/>
                    <a:pt x="1323" y="1"/>
                    <a:pt x="119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d98845a964_9_239"/>
            <p:cNvSpPr/>
            <p:nvPr/>
          </p:nvSpPr>
          <p:spPr>
            <a:xfrm>
              <a:off x="4942588" y="26526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339" y="1"/>
                  </a:moveTo>
                  <a:cubicBezTo>
                    <a:pt x="165" y="1"/>
                    <a:pt x="1" y="175"/>
                    <a:pt x="42" y="339"/>
                  </a:cubicBezTo>
                  <a:cubicBezTo>
                    <a:pt x="83" y="472"/>
                    <a:pt x="216" y="596"/>
                    <a:pt x="339" y="596"/>
                  </a:cubicBezTo>
                  <a:lnTo>
                    <a:pt x="3414" y="596"/>
                  </a:lnTo>
                  <a:cubicBezTo>
                    <a:pt x="3589" y="596"/>
                    <a:pt x="3712" y="431"/>
                    <a:pt x="3671" y="257"/>
                  </a:cubicBezTo>
                  <a:cubicBezTo>
                    <a:pt x="3671" y="8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d98845a964_9_239"/>
            <p:cNvSpPr/>
            <p:nvPr/>
          </p:nvSpPr>
          <p:spPr>
            <a:xfrm>
              <a:off x="4942588" y="270187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414" y="595"/>
                  </a:lnTo>
                  <a:cubicBezTo>
                    <a:pt x="3589" y="595"/>
                    <a:pt x="3712" y="472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d98845a964_9_239"/>
            <p:cNvSpPr/>
            <p:nvPr/>
          </p:nvSpPr>
          <p:spPr>
            <a:xfrm>
              <a:off x="4735263" y="2554500"/>
              <a:ext cx="343950" cy="277075"/>
            </a:xfrm>
            <a:custGeom>
              <a:rect b="b" l="l" r="r" t="t"/>
              <a:pathLst>
                <a:path extrusionOk="0" h="11083" w="13758">
                  <a:moveTo>
                    <a:pt x="1753" y="595"/>
                  </a:moveTo>
                  <a:lnTo>
                    <a:pt x="1753" y="8069"/>
                  </a:ln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5126" y="595"/>
                  </a:moveTo>
                  <a:cubicBezTo>
                    <a:pt x="5690" y="595"/>
                    <a:pt x="6243" y="851"/>
                    <a:pt x="6582" y="1282"/>
                  </a:cubicBezTo>
                  <a:lnTo>
                    <a:pt x="6582" y="8540"/>
                  </a:lnTo>
                  <a:cubicBezTo>
                    <a:pt x="6151" y="8243"/>
                    <a:pt x="5639" y="8069"/>
                    <a:pt x="5126" y="8069"/>
                  </a:cubicBezTo>
                  <a:lnTo>
                    <a:pt x="4101" y="8069"/>
                  </a:lnTo>
                  <a:lnTo>
                    <a:pt x="4101" y="6449"/>
                  </a:lnTo>
                  <a:cubicBezTo>
                    <a:pt x="4152" y="6490"/>
                    <a:pt x="4193" y="6490"/>
                    <a:pt x="4234" y="6490"/>
                  </a:cubicBezTo>
                  <a:lnTo>
                    <a:pt x="5126" y="6490"/>
                  </a:lnTo>
                  <a:cubicBezTo>
                    <a:pt x="5259" y="6490"/>
                    <a:pt x="5382" y="6408"/>
                    <a:pt x="5433" y="6233"/>
                  </a:cubicBezTo>
                  <a:cubicBezTo>
                    <a:pt x="5433" y="6059"/>
                    <a:pt x="5300" y="5895"/>
                    <a:pt x="5126" y="5895"/>
                  </a:cubicBezTo>
                  <a:lnTo>
                    <a:pt x="4234" y="5895"/>
                  </a:lnTo>
                  <a:cubicBezTo>
                    <a:pt x="4193" y="5895"/>
                    <a:pt x="4152" y="5936"/>
                    <a:pt x="4101" y="5936"/>
                  </a:cubicBezTo>
                  <a:lnTo>
                    <a:pt x="4101" y="2522"/>
                  </a:lnTo>
                  <a:cubicBezTo>
                    <a:pt x="4152" y="2522"/>
                    <a:pt x="4193" y="2563"/>
                    <a:pt x="4234" y="2563"/>
                  </a:cubicBezTo>
                  <a:lnTo>
                    <a:pt x="5126" y="2563"/>
                  </a:lnTo>
                  <a:cubicBezTo>
                    <a:pt x="5259" y="2563"/>
                    <a:pt x="5382" y="2430"/>
                    <a:pt x="5433" y="2307"/>
                  </a:cubicBezTo>
                  <a:cubicBezTo>
                    <a:pt x="5433" y="2133"/>
                    <a:pt x="5300" y="1959"/>
                    <a:pt x="5126" y="1959"/>
                  </a:cubicBezTo>
                  <a:lnTo>
                    <a:pt x="4234" y="1959"/>
                  </a:lnTo>
                  <a:cubicBezTo>
                    <a:pt x="4193" y="1959"/>
                    <a:pt x="4152" y="1959"/>
                    <a:pt x="4101" y="2010"/>
                  </a:cubicBezTo>
                  <a:lnTo>
                    <a:pt x="4101" y="595"/>
                  </a:lnTo>
                  <a:close/>
                  <a:moveTo>
                    <a:pt x="13163" y="595"/>
                  </a:moveTo>
                  <a:lnTo>
                    <a:pt x="13163" y="8069"/>
                  </a:lnTo>
                  <a:lnTo>
                    <a:pt x="8632" y="8069"/>
                  </a:lnTo>
                  <a:cubicBezTo>
                    <a:pt x="8119" y="8069"/>
                    <a:pt x="7607" y="8243"/>
                    <a:pt x="7176" y="8540"/>
                  </a:cubicBezTo>
                  <a:lnTo>
                    <a:pt x="7176" y="1282"/>
                  </a:lnTo>
                  <a:cubicBezTo>
                    <a:pt x="7525" y="851"/>
                    <a:pt x="8078" y="595"/>
                    <a:pt x="8632" y="595"/>
                  </a:cubicBezTo>
                  <a:close/>
                  <a:moveTo>
                    <a:pt x="1753" y="8673"/>
                  </a:moveTo>
                  <a:lnTo>
                    <a:pt x="1753" y="9606"/>
                  </a:lnTo>
                  <a:lnTo>
                    <a:pt x="605" y="9606"/>
                  </a:lnTo>
                  <a:lnTo>
                    <a:pt x="605" y="8673"/>
                  </a:lnTo>
                  <a:close/>
                  <a:moveTo>
                    <a:pt x="5126" y="8673"/>
                  </a:moveTo>
                  <a:cubicBezTo>
                    <a:pt x="5556" y="8673"/>
                    <a:pt x="5987" y="8837"/>
                    <a:pt x="6325" y="9094"/>
                  </a:cubicBezTo>
                  <a:cubicBezTo>
                    <a:pt x="6110" y="9227"/>
                    <a:pt x="5946" y="9391"/>
                    <a:pt x="5813" y="9606"/>
                  </a:cubicBezTo>
                  <a:lnTo>
                    <a:pt x="4101" y="9606"/>
                  </a:lnTo>
                  <a:lnTo>
                    <a:pt x="4101" y="8673"/>
                  </a:lnTo>
                  <a:close/>
                  <a:moveTo>
                    <a:pt x="13163" y="8673"/>
                  </a:moveTo>
                  <a:lnTo>
                    <a:pt x="13163" y="9606"/>
                  </a:lnTo>
                  <a:lnTo>
                    <a:pt x="7945" y="9606"/>
                  </a:lnTo>
                  <a:cubicBezTo>
                    <a:pt x="7822" y="9391"/>
                    <a:pt x="7648" y="9227"/>
                    <a:pt x="7433" y="9094"/>
                  </a:cubicBezTo>
                  <a:cubicBezTo>
                    <a:pt x="7781" y="8837"/>
                    <a:pt x="8201" y="8673"/>
                    <a:pt x="8632" y="8673"/>
                  </a:cubicBezTo>
                  <a:close/>
                  <a:moveTo>
                    <a:pt x="3506" y="595"/>
                  </a:moveTo>
                  <a:lnTo>
                    <a:pt x="3506" y="10211"/>
                  </a:lnTo>
                  <a:lnTo>
                    <a:pt x="3127" y="9904"/>
                  </a:lnTo>
                  <a:cubicBezTo>
                    <a:pt x="3076" y="9863"/>
                    <a:pt x="2994" y="9821"/>
                    <a:pt x="2953" y="9821"/>
                  </a:cubicBezTo>
                  <a:cubicBezTo>
                    <a:pt x="2871" y="9821"/>
                    <a:pt x="2819" y="9863"/>
                    <a:pt x="2778" y="9904"/>
                  </a:cubicBezTo>
                  <a:lnTo>
                    <a:pt x="2358" y="10211"/>
                  </a:lnTo>
                  <a:lnTo>
                    <a:pt x="2358" y="595"/>
                  </a:lnTo>
                  <a:close/>
                  <a:moveTo>
                    <a:pt x="308" y="1"/>
                  </a:moveTo>
                  <a:cubicBezTo>
                    <a:pt x="133" y="1"/>
                    <a:pt x="0" y="124"/>
                    <a:pt x="0" y="298"/>
                  </a:cubicBezTo>
                  <a:lnTo>
                    <a:pt x="0" y="8366"/>
                  </a:lnTo>
                  <a:lnTo>
                    <a:pt x="0" y="9904"/>
                  </a:lnTo>
                  <a:cubicBezTo>
                    <a:pt x="0" y="10078"/>
                    <a:pt x="133" y="10211"/>
                    <a:pt x="308" y="10211"/>
                  </a:cubicBezTo>
                  <a:lnTo>
                    <a:pt x="1753" y="10211"/>
                  </a:lnTo>
                  <a:lnTo>
                    <a:pt x="1753" y="10765"/>
                  </a:lnTo>
                  <a:cubicBezTo>
                    <a:pt x="1753" y="10847"/>
                    <a:pt x="1794" y="10929"/>
                    <a:pt x="1886" y="11021"/>
                  </a:cubicBezTo>
                  <a:cubicBezTo>
                    <a:pt x="1927" y="11062"/>
                    <a:pt x="1992" y="11082"/>
                    <a:pt x="2056" y="11082"/>
                  </a:cubicBezTo>
                  <a:cubicBezTo>
                    <a:pt x="2120" y="11082"/>
                    <a:pt x="2184" y="11062"/>
                    <a:pt x="2225" y="11021"/>
                  </a:cubicBezTo>
                  <a:lnTo>
                    <a:pt x="2953" y="10508"/>
                  </a:lnTo>
                  <a:lnTo>
                    <a:pt x="3639" y="11021"/>
                  </a:lnTo>
                  <a:cubicBezTo>
                    <a:pt x="3680" y="11062"/>
                    <a:pt x="3762" y="11062"/>
                    <a:pt x="3803" y="11062"/>
                  </a:cubicBezTo>
                  <a:cubicBezTo>
                    <a:pt x="3844" y="11062"/>
                    <a:pt x="3937" y="11062"/>
                    <a:pt x="3978" y="11021"/>
                  </a:cubicBezTo>
                  <a:cubicBezTo>
                    <a:pt x="4060" y="10980"/>
                    <a:pt x="4101" y="10888"/>
                    <a:pt x="4101" y="10765"/>
                  </a:cubicBezTo>
                  <a:lnTo>
                    <a:pt x="4101" y="10211"/>
                  </a:lnTo>
                  <a:lnTo>
                    <a:pt x="5987" y="10211"/>
                  </a:lnTo>
                  <a:cubicBezTo>
                    <a:pt x="6110" y="10211"/>
                    <a:pt x="6243" y="10119"/>
                    <a:pt x="6284" y="9996"/>
                  </a:cubicBezTo>
                  <a:cubicBezTo>
                    <a:pt x="6366" y="9739"/>
                    <a:pt x="6623" y="9565"/>
                    <a:pt x="6879" y="9565"/>
                  </a:cubicBezTo>
                  <a:cubicBezTo>
                    <a:pt x="7135" y="9565"/>
                    <a:pt x="7350" y="9698"/>
                    <a:pt x="7433" y="9955"/>
                  </a:cubicBezTo>
                  <a:lnTo>
                    <a:pt x="7484" y="9996"/>
                  </a:lnTo>
                  <a:cubicBezTo>
                    <a:pt x="7525" y="10119"/>
                    <a:pt x="7607" y="10211"/>
                    <a:pt x="7740" y="10211"/>
                  </a:cubicBezTo>
                  <a:lnTo>
                    <a:pt x="13460" y="10211"/>
                  </a:lnTo>
                  <a:cubicBezTo>
                    <a:pt x="13635" y="10211"/>
                    <a:pt x="13758" y="10078"/>
                    <a:pt x="13758" y="9904"/>
                  </a:cubicBezTo>
                  <a:lnTo>
                    <a:pt x="13758" y="8366"/>
                  </a:lnTo>
                  <a:lnTo>
                    <a:pt x="13758" y="8161"/>
                  </a:lnTo>
                  <a:lnTo>
                    <a:pt x="13758" y="298"/>
                  </a:lnTo>
                  <a:cubicBezTo>
                    <a:pt x="13758" y="124"/>
                    <a:pt x="13635" y="1"/>
                    <a:pt x="13460" y="1"/>
                  </a:cubicBezTo>
                  <a:lnTo>
                    <a:pt x="8632" y="1"/>
                  </a:lnTo>
                  <a:cubicBezTo>
                    <a:pt x="7996" y="1"/>
                    <a:pt x="7350" y="257"/>
                    <a:pt x="6879" y="728"/>
                  </a:cubicBezTo>
                  <a:cubicBezTo>
                    <a:pt x="6407" y="257"/>
                    <a:pt x="577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6" name="Google Shape;736;g3d98845a964_9_239"/>
          <p:cNvGrpSpPr/>
          <p:nvPr/>
        </p:nvGrpSpPr>
        <p:grpSpPr>
          <a:xfrm>
            <a:off x="4185685" y="2194733"/>
            <a:ext cx="345000" cy="343725"/>
            <a:chOff x="2499138" y="1976825"/>
            <a:chExt cx="345000" cy="343725"/>
          </a:xfrm>
        </p:grpSpPr>
        <p:sp>
          <p:nvSpPr>
            <p:cNvPr id="737" name="Google Shape;737;g3d98845a964_9_239"/>
            <p:cNvSpPr/>
            <p:nvPr/>
          </p:nvSpPr>
          <p:spPr>
            <a:xfrm>
              <a:off x="2499138" y="2174175"/>
              <a:ext cx="345000" cy="146375"/>
            </a:xfrm>
            <a:custGeom>
              <a:rect b="b" l="l" r="r" t="t"/>
              <a:pathLst>
                <a:path extrusionOk="0" h="5855" w="13800">
                  <a:moveTo>
                    <a:pt x="5276" y="589"/>
                  </a:moveTo>
                  <a:cubicBezTo>
                    <a:pt x="5325" y="589"/>
                    <a:pt x="5377" y="594"/>
                    <a:pt x="5434" y="605"/>
                  </a:cubicBezTo>
                  <a:cubicBezTo>
                    <a:pt x="6111" y="605"/>
                    <a:pt x="6623" y="1159"/>
                    <a:pt x="6623" y="1794"/>
                  </a:cubicBezTo>
                  <a:lnTo>
                    <a:pt x="6623" y="2738"/>
                  </a:lnTo>
                  <a:cubicBezTo>
                    <a:pt x="6244" y="2522"/>
                    <a:pt x="5773" y="2399"/>
                    <a:pt x="5342" y="2399"/>
                  </a:cubicBezTo>
                  <a:lnTo>
                    <a:pt x="1077" y="2399"/>
                  </a:lnTo>
                  <a:lnTo>
                    <a:pt x="1077" y="1753"/>
                  </a:lnTo>
                  <a:cubicBezTo>
                    <a:pt x="1077" y="1456"/>
                    <a:pt x="1334" y="1241"/>
                    <a:pt x="1590" y="1241"/>
                  </a:cubicBezTo>
                  <a:cubicBezTo>
                    <a:pt x="2697" y="1241"/>
                    <a:pt x="3763" y="1077"/>
                    <a:pt x="4788" y="728"/>
                  </a:cubicBezTo>
                  <a:cubicBezTo>
                    <a:pt x="4829" y="728"/>
                    <a:pt x="4829" y="687"/>
                    <a:pt x="4870" y="687"/>
                  </a:cubicBezTo>
                  <a:cubicBezTo>
                    <a:pt x="5028" y="627"/>
                    <a:pt x="5142" y="589"/>
                    <a:pt x="5276" y="589"/>
                  </a:cubicBezTo>
                  <a:close/>
                  <a:moveTo>
                    <a:pt x="8417" y="564"/>
                  </a:moveTo>
                  <a:cubicBezTo>
                    <a:pt x="8633" y="564"/>
                    <a:pt x="8766" y="605"/>
                    <a:pt x="8930" y="687"/>
                  </a:cubicBezTo>
                  <a:cubicBezTo>
                    <a:pt x="8971" y="687"/>
                    <a:pt x="9022" y="728"/>
                    <a:pt x="9022" y="728"/>
                  </a:cubicBezTo>
                  <a:cubicBezTo>
                    <a:pt x="10047" y="1077"/>
                    <a:pt x="11155" y="1241"/>
                    <a:pt x="12221" y="1241"/>
                  </a:cubicBezTo>
                  <a:cubicBezTo>
                    <a:pt x="12518" y="1241"/>
                    <a:pt x="12733" y="1456"/>
                    <a:pt x="12733" y="1753"/>
                  </a:cubicBezTo>
                  <a:lnTo>
                    <a:pt x="12733" y="2399"/>
                  </a:lnTo>
                  <a:lnTo>
                    <a:pt x="8510" y="2399"/>
                  </a:lnTo>
                  <a:cubicBezTo>
                    <a:pt x="8038" y="2399"/>
                    <a:pt x="7608" y="2522"/>
                    <a:pt x="7228" y="2738"/>
                  </a:cubicBezTo>
                  <a:lnTo>
                    <a:pt x="7228" y="1794"/>
                  </a:lnTo>
                  <a:cubicBezTo>
                    <a:pt x="7228" y="1118"/>
                    <a:pt x="7741" y="564"/>
                    <a:pt x="8417" y="564"/>
                  </a:cubicBezTo>
                  <a:close/>
                  <a:moveTo>
                    <a:pt x="13205" y="2994"/>
                  </a:moveTo>
                  <a:lnTo>
                    <a:pt x="13205" y="4152"/>
                  </a:lnTo>
                  <a:lnTo>
                    <a:pt x="8294" y="4152"/>
                  </a:lnTo>
                  <a:cubicBezTo>
                    <a:pt x="7997" y="4152"/>
                    <a:pt x="7741" y="4357"/>
                    <a:pt x="7649" y="4665"/>
                  </a:cubicBezTo>
                  <a:cubicBezTo>
                    <a:pt x="7608" y="5003"/>
                    <a:pt x="7269" y="5259"/>
                    <a:pt x="6921" y="5259"/>
                  </a:cubicBezTo>
                  <a:cubicBezTo>
                    <a:pt x="6541" y="5259"/>
                    <a:pt x="6244" y="5003"/>
                    <a:pt x="6152" y="4665"/>
                  </a:cubicBezTo>
                  <a:cubicBezTo>
                    <a:pt x="6111" y="4357"/>
                    <a:pt x="5855" y="4152"/>
                    <a:pt x="5557" y="4152"/>
                  </a:cubicBezTo>
                  <a:lnTo>
                    <a:pt x="606" y="4152"/>
                  </a:lnTo>
                  <a:lnTo>
                    <a:pt x="606" y="2994"/>
                  </a:lnTo>
                  <a:lnTo>
                    <a:pt x="5342" y="2994"/>
                  </a:lnTo>
                  <a:cubicBezTo>
                    <a:pt x="5855" y="2994"/>
                    <a:pt x="6326" y="3209"/>
                    <a:pt x="6716" y="3547"/>
                  </a:cubicBezTo>
                  <a:cubicBezTo>
                    <a:pt x="6757" y="3614"/>
                    <a:pt x="6831" y="3647"/>
                    <a:pt x="6910" y="3647"/>
                  </a:cubicBezTo>
                  <a:cubicBezTo>
                    <a:pt x="6990" y="3647"/>
                    <a:pt x="7074" y="3614"/>
                    <a:pt x="7136" y="3547"/>
                  </a:cubicBezTo>
                  <a:cubicBezTo>
                    <a:pt x="7485" y="3209"/>
                    <a:pt x="7997" y="2994"/>
                    <a:pt x="8510" y="2994"/>
                  </a:cubicBezTo>
                  <a:close/>
                  <a:moveTo>
                    <a:pt x="5383" y="0"/>
                  </a:moveTo>
                  <a:cubicBezTo>
                    <a:pt x="5086" y="0"/>
                    <a:pt x="4922" y="52"/>
                    <a:pt x="4665" y="134"/>
                  </a:cubicBezTo>
                  <a:cubicBezTo>
                    <a:pt x="4665" y="134"/>
                    <a:pt x="4614" y="134"/>
                    <a:pt x="4573" y="175"/>
                  </a:cubicBezTo>
                  <a:cubicBezTo>
                    <a:pt x="3640" y="472"/>
                    <a:pt x="2615" y="646"/>
                    <a:pt x="1590" y="646"/>
                  </a:cubicBezTo>
                  <a:cubicBezTo>
                    <a:pt x="985" y="646"/>
                    <a:pt x="473" y="1159"/>
                    <a:pt x="473" y="1753"/>
                  </a:cubicBezTo>
                  <a:lnTo>
                    <a:pt x="473" y="2399"/>
                  </a:lnTo>
                  <a:lnTo>
                    <a:pt x="308" y="2399"/>
                  </a:lnTo>
                  <a:cubicBezTo>
                    <a:pt x="175" y="2399"/>
                    <a:pt x="1" y="2522"/>
                    <a:pt x="1" y="2697"/>
                  </a:cubicBezTo>
                  <a:lnTo>
                    <a:pt x="1" y="4450"/>
                  </a:lnTo>
                  <a:cubicBezTo>
                    <a:pt x="1" y="4614"/>
                    <a:pt x="175" y="4747"/>
                    <a:pt x="308" y="4747"/>
                  </a:cubicBezTo>
                  <a:lnTo>
                    <a:pt x="5557" y="4747"/>
                  </a:lnTo>
                  <a:cubicBezTo>
                    <a:pt x="5691" y="5382"/>
                    <a:pt x="6244" y="5854"/>
                    <a:pt x="6921" y="5854"/>
                  </a:cubicBezTo>
                  <a:cubicBezTo>
                    <a:pt x="7567" y="5854"/>
                    <a:pt x="8120" y="5382"/>
                    <a:pt x="8253" y="4747"/>
                  </a:cubicBezTo>
                  <a:lnTo>
                    <a:pt x="13502" y="4747"/>
                  </a:lnTo>
                  <a:cubicBezTo>
                    <a:pt x="13676" y="4747"/>
                    <a:pt x="13799" y="4614"/>
                    <a:pt x="13799" y="4450"/>
                  </a:cubicBezTo>
                  <a:lnTo>
                    <a:pt x="13799" y="2697"/>
                  </a:lnTo>
                  <a:cubicBezTo>
                    <a:pt x="13799" y="2522"/>
                    <a:pt x="13676" y="2399"/>
                    <a:pt x="13502" y="2399"/>
                  </a:cubicBezTo>
                  <a:lnTo>
                    <a:pt x="13328" y="2399"/>
                  </a:lnTo>
                  <a:lnTo>
                    <a:pt x="13328" y="1753"/>
                  </a:lnTo>
                  <a:cubicBezTo>
                    <a:pt x="13328" y="1159"/>
                    <a:pt x="12815" y="646"/>
                    <a:pt x="12180" y="646"/>
                  </a:cubicBezTo>
                  <a:cubicBezTo>
                    <a:pt x="11196" y="646"/>
                    <a:pt x="10170" y="472"/>
                    <a:pt x="9186" y="175"/>
                  </a:cubicBezTo>
                  <a:cubicBezTo>
                    <a:pt x="9186" y="134"/>
                    <a:pt x="9145" y="134"/>
                    <a:pt x="9104" y="134"/>
                  </a:cubicBezTo>
                  <a:cubicBezTo>
                    <a:pt x="8889" y="52"/>
                    <a:pt x="8715" y="0"/>
                    <a:pt x="8417" y="0"/>
                  </a:cubicBezTo>
                  <a:cubicBezTo>
                    <a:pt x="7782" y="0"/>
                    <a:pt x="7228" y="308"/>
                    <a:pt x="6880" y="821"/>
                  </a:cubicBezTo>
                  <a:cubicBezTo>
                    <a:pt x="6582" y="308"/>
                    <a:pt x="6029" y="0"/>
                    <a:pt x="538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d98845a964_9_239"/>
            <p:cNvSpPr/>
            <p:nvPr/>
          </p:nvSpPr>
          <p:spPr>
            <a:xfrm>
              <a:off x="2594238" y="1997450"/>
              <a:ext cx="154825" cy="150100"/>
            </a:xfrm>
            <a:custGeom>
              <a:rect b="b" l="l" r="r" t="t"/>
              <a:pathLst>
                <a:path extrusionOk="0" h="6004" w="6193">
                  <a:moveTo>
                    <a:pt x="1282" y="580"/>
                  </a:moveTo>
                  <a:cubicBezTo>
                    <a:pt x="1497" y="580"/>
                    <a:pt x="1712" y="621"/>
                    <a:pt x="2010" y="755"/>
                  </a:cubicBezTo>
                  <a:cubicBezTo>
                    <a:pt x="2184" y="837"/>
                    <a:pt x="2399" y="919"/>
                    <a:pt x="2563" y="1011"/>
                  </a:cubicBezTo>
                  <a:cubicBezTo>
                    <a:pt x="2307" y="1226"/>
                    <a:pt x="2051" y="1431"/>
                    <a:pt x="1794" y="1687"/>
                  </a:cubicBezTo>
                  <a:cubicBezTo>
                    <a:pt x="1579" y="1944"/>
                    <a:pt x="1323" y="2200"/>
                    <a:pt x="1159" y="2456"/>
                  </a:cubicBezTo>
                  <a:cubicBezTo>
                    <a:pt x="1025" y="2292"/>
                    <a:pt x="943" y="2077"/>
                    <a:pt x="861" y="1903"/>
                  </a:cubicBezTo>
                  <a:cubicBezTo>
                    <a:pt x="646" y="1349"/>
                    <a:pt x="646" y="919"/>
                    <a:pt x="861" y="714"/>
                  </a:cubicBezTo>
                  <a:cubicBezTo>
                    <a:pt x="943" y="621"/>
                    <a:pt x="1066" y="580"/>
                    <a:pt x="1282" y="580"/>
                  </a:cubicBezTo>
                  <a:close/>
                  <a:moveTo>
                    <a:pt x="4962" y="580"/>
                  </a:moveTo>
                  <a:cubicBezTo>
                    <a:pt x="5126" y="580"/>
                    <a:pt x="5300" y="621"/>
                    <a:pt x="5382" y="714"/>
                  </a:cubicBezTo>
                  <a:cubicBezTo>
                    <a:pt x="5557" y="919"/>
                    <a:pt x="5557" y="1349"/>
                    <a:pt x="5341" y="1903"/>
                  </a:cubicBezTo>
                  <a:cubicBezTo>
                    <a:pt x="5259" y="2077"/>
                    <a:pt x="5167" y="2292"/>
                    <a:pt x="5085" y="2456"/>
                  </a:cubicBezTo>
                  <a:cubicBezTo>
                    <a:pt x="4870" y="2200"/>
                    <a:pt x="4654" y="1944"/>
                    <a:pt x="4398" y="1687"/>
                  </a:cubicBezTo>
                  <a:cubicBezTo>
                    <a:pt x="4142" y="1431"/>
                    <a:pt x="3886" y="1226"/>
                    <a:pt x="3629" y="1011"/>
                  </a:cubicBezTo>
                  <a:cubicBezTo>
                    <a:pt x="3804" y="919"/>
                    <a:pt x="4019" y="837"/>
                    <a:pt x="4193" y="755"/>
                  </a:cubicBezTo>
                  <a:cubicBezTo>
                    <a:pt x="4490" y="621"/>
                    <a:pt x="4747" y="580"/>
                    <a:pt x="4962" y="580"/>
                  </a:cubicBezTo>
                  <a:close/>
                  <a:moveTo>
                    <a:pt x="3117" y="1349"/>
                  </a:moveTo>
                  <a:cubicBezTo>
                    <a:pt x="3424" y="1564"/>
                    <a:pt x="3722" y="1821"/>
                    <a:pt x="3978" y="2118"/>
                  </a:cubicBezTo>
                  <a:cubicBezTo>
                    <a:pt x="4275" y="2415"/>
                    <a:pt x="4531" y="2672"/>
                    <a:pt x="4747" y="2969"/>
                  </a:cubicBezTo>
                  <a:cubicBezTo>
                    <a:pt x="4531" y="3276"/>
                    <a:pt x="4275" y="3574"/>
                    <a:pt x="3978" y="3871"/>
                  </a:cubicBezTo>
                  <a:cubicBezTo>
                    <a:pt x="3722" y="4127"/>
                    <a:pt x="3424" y="4384"/>
                    <a:pt x="3117" y="4599"/>
                  </a:cubicBezTo>
                  <a:cubicBezTo>
                    <a:pt x="2819" y="4384"/>
                    <a:pt x="2522" y="4127"/>
                    <a:pt x="2225" y="3871"/>
                  </a:cubicBezTo>
                  <a:cubicBezTo>
                    <a:pt x="1969" y="3574"/>
                    <a:pt x="1712" y="3276"/>
                    <a:pt x="1497" y="2969"/>
                  </a:cubicBezTo>
                  <a:cubicBezTo>
                    <a:pt x="1712" y="2672"/>
                    <a:pt x="1969" y="2415"/>
                    <a:pt x="2225" y="2118"/>
                  </a:cubicBezTo>
                  <a:cubicBezTo>
                    <a:pt x="2522" y="1821"/>
                    <a:pt x="2819" y="1564"/>
                    <a:pt x="3117" y="1349"/>
                  </a:cubicBezTo>
                  <a:close/>
                  <a:moveTo>
                    <a:pt x="1159" y="3533"/>
                  </a:moveTo>
                  <a:cubicBezTo>
                    <a:pt x="1323" y="3789"/>
                    <a:pt x="1579" y="4045"/>
                    <a:pt x="1794" y="4302"/>
                  </a:cubicBezTo>
                  <a:cubicBezTo>
                    <a:pt x="2051" y="4507"/>
                    <a:pt x="2307" y="4763"/>
                    <a:pt x="2563" y="4937"/>
                  </a:cubicBezTo>
                  <a:cubicBezTo>
                    <a:pt x="2399" y="5070"/>
                    <a:pt x="2184" y="5152"/>
                    <a:pt x="2010" y="5234"/>
                  </a:cubicBezTo>
                  <a:cubicBezTo>
                    <a:pt x="1733" y="5342"/>
                    <a:pt x="1487" y="5396"/>
                    <a:pt x="1289" y="5396"/>
                  </a:cubicBezTo>
                  <a:cubicBezTo>
                    <a:pt x="1092" y="5396"/>
                    <a:pt x="943" y="5342"/>
                    <a:pt x="861" y="5234"/>
                  </a:cubicBezTo>
                  <a:cubicBezTo>
                    <a:pt x="646" y="5070"/>
                    <a:pt x="646" y="4640"/>
                    <a:pt x="861" y="4086"/>
                  </a:cubicBezTo>
                  <a:cubicBezTo>
                    <a:pt x="943" y="3912"/>
                    <a:pt x="1025" y="3697"/>
                    <a:pt x="1159" y="3533"/>
                  </a:cubicBezTo>
                  <a:close/>
                  <a:moveTo>
                    <a:pt x="5085" y="3533"/>
                  </a:moveTo>
                  <a:cubicBezTo>
                    <a:pt x="5167" y="3697"/>
                    <a:pt x="5259" y="3912"/>
                    <a:pt x="5341" y="4086"/>
                  </a:cubicBezTo>
                  <a:cubicBezTo>
                    <a:pt x="5557" y="4640"/>
                    <a:pt x="5557" y="5070"/>
                    <a:pt x="5382" y="5234"/>
                  </a:cubicBezTo>
                  <a:cubicBezTo>
                    <a:pt x="5275" y="5342"/>
                    <a:pt x="5116" y="5396"/>
                    <a:pt x="4915" y="5396"/>
                  </a:cubicBezTo>
                  <a:cubicBezTo>
                    <a:pt x="4713" y="5396"/>
                    <a:pt x="4470" y="5342"/>
                    <a:pt x="4193" y="5234"/>
                  </a:cubicBezTo>
                  <a:cubicBezTo>
                    <a:pt x="4019" y="5152"/>
                    <a:pt x="3804" y="5070"/>
                    <a:pt x="3629" y="4937"/>
                  </a:cubicBezTo>
                  <a:cubicBezTo>
                    <a:pt x="3886" y="4763"/>
                    <a:pt x="4142" y="4507"/>
                    <a:pt x="4398" y="4302"/>
                  </a:cubicBezTo>
                  <a:cubicBezTo>
                    <a:pt x="4654" y="4045"/>
                    <a:pt x="4870" y="3789"/>
                    <a:pt x="5085" y="3533"/>
                  </a:cubicBezTo>
                  <a:close/>
                  <a:moveTo>
                    <a:pt x="1300" y="1"/>
                  </a:moveTo>
                  <a:cubicBezTo>
                    <a:pt x="943" y="1"/>
                    <a:pt x="644" y="110"/>
                    <a:pt x="431" y="324"/>
                  </a:cubicBezTo>
                  <a:cubicBezTo>
                    <a:pt x="41" y="662"/>
                    <a:pt x="0" y="1308"/>
                    <a:pt x="298" y="2118"/>
                  </a:cubicBezTo>
                  <a:cubicBezTo>
                    <a:pt x="431" y="2415"/>
                    <a:pt x="605" y="2672"/>
                    <a:pt x="769" y="2969"/>
                  </a:cubicBezTo>
                  <a:cubicBezTo>
                    <a:pt x="605" y="3276"/>
                    <a:pt x="431" y="3574"/>
                    <a:pt x="298" y="3871"/>
                  </a:cubicBezTo>
                  <a:cubicBezTo>
                    <a:pt x="0" y="4640"/>
                    <a:pt x="41" y="5275"/>
                    <a:pt x="431" y="5665"/>
                  </a:cubicBezTo>
                  <a:cubicBezTo>
                    <a:pt x="646" y="5880"/>
                    <a:pt x="902" y="6003"/>
                    <a:pt x="1282" y="6003"/>
                  </a:cubicBezTo>
                  <a:cubicBezTo>
                    <a:pt x="1538" y="6003"/>
                    <a:pt x="1887" y="5921"/>
                    <a:pt x="2225" y="5788"/>
                  </a:cubicBezTo>
                  <a:cubicBezTo>
                    <a:pt x="2522" y="5665"/>
                    <a:pt x="2819" y="5532"/>
                    <a:pt x="3117" y="5327"/>
                  </a:cubicBezTo>
                  <a:cubicBezTo>
                    <a:pt x="3424" y="5532"/>
                    <a:pt x="3681" y="5665"/>
                    <a:pt x="3978" y="5788"/>
                  </a:cubicBezTo>
                  <a:cubicBezTo>
                    <a:pt x="4316" y="5921"/>
                    <a:pt x="4654" y="6003"/>
                    <a:pt x="4962" y="6003"/>
                  </a:cubicBezTo>
                  <a:cubicBezTo>
                    <a:pt x="5300" y="6003"/>
                    <a:pt x="5598" y="5880"/>
                    <a:pt x="5772" y="5665"/>
                  </a:cubicBezTo>
                  <a:cubicBezTo>
                    <a:pt x="6151" y="5275"/>
                    <a:pt x="6192" y="4640"/>
                    <a:pt x="5895" y="3871"/>
                  </a:cubicBezTo>
                  <a:cubicBezTo>
                    <a:pt x="5772" y="3574"/>
                    <a:pt x="5639" y="3276"/>
                    <a:pt x="5423" y="2969"/>
                  </a:cubicBezTo>
                  <a:cubicBezTo>
                    <a:pt x="5639" y="2672"/>
                    <a:pt x="5772" y="2415"/>
                    <a:pt x="5895" y="2118"/>
                  </a:cubicBezTo>
                  <a:cubicBezTo>
                    <a:pt x="6192" y="1308"/>
                    <a:pt x="6151" y="662"/>
                    <a:pt x="5772" y="324"/>
                  </a:cubicBezTo>
                  <a:cubicBezTo>
                    <a:pt x="5576" y="110"/>
                    <a:pt x="5288" y="1"/>
                    <a:pt x="4930" y="1"/>
                  </a:cubicBezTo>
                  <a:cubicBezTo>
                    <a:pt x="4652" y="1"/>
                    <a:pt x="4332" y="67"/>
                    <a:pt x="3978" y="201"/>
                  </a:cubicBezTo>
                  <a:cubicBezTo>
                    <a:pt x="3681" y="324"/>
                    <a:pt x="3424" y="457"/>
                    <a:pt x="3117" y="662"/>
                  </a:cubicBezTo>
                  <a:cubicBezTo>
                    <a:pt x="2819" y="457"/>
                    <a:pt x="2522" y="324"/>
                    <a:pt x="2225" y="201"/>
                  </a:cubicBezTo>
                  <a:cubicBezTo>
                    <a:pt x="1889" y="67"/>
                    <a:pt x="1577" y="1"/>
                    <a:pt x="130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d98845a964_9_239"/>
            <p:cNvSpPr/>
            <p:nvPr/>
          </p:nvSpPr>
          <p:spPr>
            <a:xfrm>
              <a:off x="2662663" y="2064225"/>
              <a:ext cx="18225" cy="15150"/>
            </a:xfrm>
            <a:custGeom>
              <a:rect b="b" l="l" r="r" t="t"/>
              <a:pathLst>
                <a:path extrusionOk="0" h="606" w="729">
                  <a:moveTo>
                    <a:pt x="339" y="1"/>
                  </a:moveTo>
                  <a:cubicBezTo>
                    <a:pt x="257" y="1"/>
                    <a:pt x="175" y="42"/>
                    <a:pt x="123" y="134"/>
                  </a:cubicBezTo>
                  <a:cubicBezTo>
                    <a:pt x="0" y="390"/>
                    <a:pt x="175" y="605"/>
                    <a:pt x="380" y="605"/>
                  </a:cubicBezTo>
                  <a:cubicBezTo>
                    <a:pt x="595" y="605"/>
                    <a:pt x="728" y="390"/>
                    <a:pt x="636" y="175"/>
                  </a:cubicBezTo>
                  <a:cubicBezTo>
                    <a:pt x="595" y="93"/>
                    <a:pt x="472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g3d98845a964_9_239"/>
            <p:cNvSpPr/>
            <p:nvPr/>
          </p:nvSpPr>
          <p:spPr>
            <a:xfrm>
              <a:off x="2783363" y="1976825"/>
              <a:ext cx="18225" cy="14900"/>
            </a:xfrm>
            <a:custGeom>
              <a:rect b="b" l="l" r="r" t="t"/>
              <a:pathLst>
                <a:path extrusionOk="0" h="596" w="729">
                  <a:moveTo>
                    <a:pt x="339" y="1"/>
                  </a:moveTo>
                  <a:cubicBezTo>
                    <a:pt x="257" y="1"/>
                    <a:pt x="124" y="42"/>
                    <a:pt x="83" y="124"/>
                  </a:cubicBezTo>
                  <a:cubicBezTo>
                    <a:pt x="1" y="339"/>
                    <a:pt x="124" y="595"/>
                    <a:pt x="339" y="595"/>
                  </a:cubicBezTo>
                  <a:cubicBezTo>
                    <a:pt x="554" y="595"/>
                    <a:pt x="729" y="380"/>
                    <a:pt x="636" y="165"/>
                  </a:cubicBezTo>
                  <a:cubicBezTo>
                    <a:pt x="554" y="42"/>
                    <a:pt x="472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g3d98845a964_9_239"/>
            <p:cNvSpPr/>
            <p:nvPr/>
          </p:nvSpPr>
          <p:spPr>
            <a:xfrm>
              <a:off x="2541938" y="2130600"/>
              <a:ext cx="19250" cy="14900"/>
            </a:xfrm>
            <a:custGeom>
              <a:rect b="b" l="l" r="r" t="t"/>
              <a:pathLst>
                <a:path extrusionOk="0" h="596" w="770">
                  <a:moveTo>
                    <a:pt x="339" y="1"/>
                  </a:moveTo>
                  <a:cubicBezTo>
                    <a:pt x="257" y="1"/>
                    <a:pt x="175" y="42"/>
                    <a:pt x="134" y="124"/>
                  </a:cubicBezTo>
                  <a:cubicBezTo>
                    <a:pt x="1" y="339"/>
                    <a:pt x="175" y="595"/>
                    <a:pt x="390" y="595"/>
                  </a:cubicBezTo>
                  <a:cubicBezTo>
                    <a:pt x="596" y="595"/>
                    <a:pt x="770" y="380"/>
                    <a:pt x="647" y="165"/>
                  </a:cubicBezTo>
                  <a:cubicBezTo>
                    <a:pt x="596" y="42"/>
                    <a:pt x="514" y="1"/>
                    <a:pt x="39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d98845a964_9_239"/>
            <p:cNvSpPr/>
            <p:nvPr/>
          </p:nvSpPr>
          <p:spPr>
            <a:xfrm>
              <a:off x="2520688" y="2031175"/>
              <a:ext cx="18200" cy="14875"/>
            </a:xfrm>
            <a:custGeom>
              <a:rect b="b" l="l" r="r" t="t"/>
              <a:pathLst>
                <a:path extrusionOk="0" h="595" w="728">
                  <a:moveTo>
                    <a:pt x="338" y="0"/>
                  </a:moveTo>
                  <a:cubicBezTo>
                    <a:pt x="256" y="0"/>
                    <a:pt x="164" y="82"/>
                    <a:pt x="123" y="174"/>
                  </a:cubicBezTo>
                  <a:cubicBezTo>
                    <a:pt x="0" y="390"/>
                    <a:pt x="123" y="595"/>
                    <a:pt x="379" y="595"/>
                  </a:cubicBezTo>
                  <a:cubicBezTo>
                    <a:pt x="554" y="595"/>
                    <a:pt x="728" y="390"/>
                    <a:pt x="636" y="174"/>
                  </a:cubicBezTo>
                  <a:cubicBezTo>
                    <a:pt x="595" y="82"/>
                    <a:pt x="472" y="0"/>
                    <a:pt x="37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g3d98845a964_9_239"/>
            <p:cNvSpPr/>
            <p:nvPr/>
          </p:nvSpPr>
          <p:spPr>
            <a:xfrm>
              <a:off x="2771588" y="2113425"/>
              <a:ext cx="19250" cy="14900"/>
            </a:xfrm>
            <a:custGeom>
              <a:rect b="b" l="l" r="r" t="t"/>
              <a:pathLst>
                <a:path extrusionOk="0" h="596" w="770">
                  <a:moveTo>
                    <a:pt x="380" y="1"/>
                  </a:moveTo>
                  <a:cubicBezTo>
                    <a:pt x="257" y="1"/>
                    <a:pt x="175" y="42"/>
                    <a:pt x="123" y="124"/>
                  </a:cubicBezTo>
                  <a:cubicBezTo>
                    <a:pt x="0" y="380"/>
                    <a:pt x="175" y="595"/>
                    <a:pt x="380" y="595"/>
                  </a:cubicBezTo>
                  <a:cubicBezTo>
                    <a:pt x="595" y="595"/>
                    <a:pt x="769" y="380"/>
                    <a:pt x="636" y="175"/>
                  </a:cubicBezTo>
                  <a:cubicBezTo>
                    <a:pt x="595" y="83"/>
                    <a:pt x="513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" name="Google Shape;744;g3d98845a964_9_239"/>
          <p:cNvSpPr txBox="1"/>
          <p:nvPr>
            <p:ph idx="4294967295" type="title"/>
          </p:nvPr>
        </p:nvSpPr>
        <p:spPr>
          <a:xfrm>
            <a:off x="233255" y="230995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d98845a964_9_1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Elegant Black and White Thesis Defense</a:t>
            </a:r>
            <a:endParaRPr/>
          </a:p>
        </p:txBody>
      </p:sp>
      <p:sp>
        <p:nvSpPr>
          <p:cNvPr id="750" name="Google Shape;750;g3d98845a964_9_1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Here is where your presentation begins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1" name="Google Shape;751;g3d98845a964_9_12"/>
          <p:cNvSpPr/>
          <p:nvPr/>
        </p:nvSpPr>
        <p:spPr>
          <a:xfrm>
            <a:off x="0" y="9335"/>
            <a:ext cx="9144000" cy="5143500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d98845a964_9_12"/>
          <p:cNvSpPr txBox="1"/>
          <p:nvPr/>
        </p:nvSpPr>
        <p:spPr>
          <a:xfrm>
            <a:off x="640080" y="41148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Chapter </a:t>
            </a:r>
            <a:r>
              <a:rPr b="1" lang="en-US" sz="2700">
                <a:solidFill>
                  <a:srgbClr val="333333"/>
                </a:solidFill>
              </a:rPr>
              <a:t>2</a:t>
            </a: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700">
                <a:solidFill>
                  <a:srgbClr val="333333"/>
                </a:solidFill>
              </a:rPr>
              <a:t>EDA</a:t>
            </a:r>
            <a:endParaRPr/>
          </a:p>
        </p:txBody>
      </p:sp>
      <p:sp>
        <p:nvSpPr>
          <p:cNvPr id="753" name="Google Shape;753;g3d98845a964_9_12"/>
          <p:cNvSpPr txBox="1"/>
          <p:nvPr/>
        </p:nvSpPr>
        <p:spPr>
          <a:xfrm>
            <a:off x="658368" y="1874519"/>
            <a:ext cx="12801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5400">
                <a:solidFill>
                  <a:srgbClr val="333333"/>
                </a:solidFill>
              </a:rPr>
              <a:t>2</a:t>
            </a:r>
            <a:endParaRPr/>
          </a:p>
        </p:txBody>
      </p:sp>
      <p:sp>
        <p:nvSpPr>
          <p:cNvPr id="754" name="Google Shape;754;g3d98845a964_9_12"/>
          <p:cNvSpPr/>
          <p:nvPr/>
        </p:nvSpPr>
        <p:spPr>
          <a:xfrm>
            <a:off x="2057400" y="2240280"/>
            <a:ext cx="5303400" cy="321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d98845a964_9_12"/>
          <p:cNvSpPr txBox="1"/>
          <p:nvPr/>
        </p:nvSpPr>
        <p:spPr>
          <a:xfrm>
            <a:off x="2057400" y="2344928"/>
            <a:ext cx="530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77777"/>
                </a:solidFill>
              </a:rPr>
              <a:t>Exploratory Data Analysis</a:t>
            </a:r>
            <a:endParaRPr/>
          </a:p>
        </p:txBody>
      </p:sp>
      <p:sp>
        <p:nvSpPr>
          <p:cNvPr id="756" name="Google Shape;756;g3d98845a964_9_12"/>
          <p:cNvSpPr/>
          <p:nvPr/>
        </p:nvSpPr>
        <p:spPr>
          <a:xfrm>
            <a:off x="2372950" y="3313050"/>
            <a:ext cx="1845900" cy="978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Dataset Overview</a:t>
            </a:r>
            <a:endParaRPr sz="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7" name="Google Shape;757;g3d98845a964_9_12"/>
          <p:cNvSpPr/>
          <p:nvPr/>
        </p:nvSpPr>
        <p:spPr>
          <a:xfrm>
            <a:off x="5075025" y="3313050"/>
            <a:ext cx="1845900" cy="978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Main EDA Patterns</a:t>
            </a:r>
            <a:endParaRPr sz="1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d98845a964_9_24"/>
          <p:cNvSpPr txBox="1"/>
          <p:nvPr>
            <p:ph type="title"/>
          </p:nvPr>
        </p:nvSpPr>
        <p:spPr>
          <a:xfrm>
            <a:off x="1625877" y="262050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Dataset Overview and Feature Construction</a:t>
            </a:r>
            <a:endParaRPr sz="2000"/>
          </a:p>
        </p:txBody>
      </p:sp>
      <p:sp>
        <p:nvSpPr>
          <p:cNvPr id="763" name="Google Shape;763;g3d98845a964_9_24"/>
          <p:cNvSpPr txBox="1"/>
          <p:nvPr>
            <p:ph idx="1" type="subTitle"/>
          </p:nvPr>
        </p:nvSpPr>
        <p:spPr>
          <a:xfrm>
            <a:off x="1028566" y="1238544"/>
            <a:ext cx="70869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Hanken Grotesk"/>
                <a:ea typeface="Hanken Grotesk"/>
                <a:cs typeface="Hanken Grotesk"/>
                <a:sym typeface="Hanken Grotesk"/>
              </a:rPr>
              <a:t>Dataset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The dataset contains </a:t>
            </a:r>
            <a:r>
              <a:rPr lang="en-US">
                <a:latin typeface="Figtree Black"/>
                <a:ea typeface="Figtree Black"/>
                <a:cs typeface="Figtree Black"/>
                <a:sym typeface="Figtree Black"/>
              </a:rPr>
              <a:t>4,084 daily observations </a:t>
            </a: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from </a:t>
            </a:r>
            <a:r>
              <a:rPr b="1" lang="en-US">
                <a:latin typeface="Hanken Grotesk"/>
                <a:ea typeface="Hanken Grotesk"/>
                <a:cs typeface="Hanken Grotesk"/>
                <a:sym typeface="Hanken Grotesk"/>
              </a:rPr>
              <a:t>2010-01-08 </a:t>
            </a: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to</a:t>
            </a:r>
            <a:r>
              <a:rPr b="1" lang="en-US">
                <a:latin typeface="Hanken Grotesk"/>
                <a:ea typeface="Hanken Grotesk"/>
                <a:cs typeface="Hanken Grotesk"/>
                <a:sym typeface="Hanken Grotesk"/>
              </a:rPr>
              <a:t> 2021-03-17</a:t>
            </a: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.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The target variable is </a:t>
            </a:r>
            <a:r>
              <a:rPr lang="en-US">
                <a:latin typeface="Figtree Black"/>
                <a:ea typeface="Figtree Black"/>
                <a:cs typeface="Figtree Black"/>
                <a:sym typeface="Figtree Black"/>
              </a:rPr>
              <a:t>TOTAL_DEMAND</a:t>
            </a: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.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Daily TOTAL_DEMAND was constructed by </a:t>
            </a:r>
            <a:r>
              <a:rPr lang="en-US"/>
              <a:t>aggregating</a:t>
            </a:r>
            <a:r>
              <a:rPr lang="en-US"/>
              <a:t> half-hourly NSW electricity demand records within each calendar-day window, using 00:00 as the daily boundary. </a:t>
            </a:r>
            <a:endParaRPr/>
          </a:p>
        </p:txBody>
      </p:sp>
      <p:sp>
        <p:nvSpPr>
          <p:cNvPr id="764" name="Google Shape;764;g3d98845a964_9_24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765" name="Google Shape;765;g3d98845a964_9_24"/>
          <p:cNvSpPr/>
          <p:nvPr/>
        </p:nvSpPr>
        <p:spPr>
          <a:xfrm>
            <a:off x="2970000" y="2940747"/>
            <a:ext cx="1830300" cy="295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00:00-00:30 demand</a:t>
            </a:r>
            <a:endParaRPr>
              <a:solidFill>
                <a:schemeClr val="accent6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6" name="Google Shape;766;g3d98845a964_9_24"/>
          <p:cNvSpPr/>
          <p:nvPr/>
        </p:nvSpPr>
        <p:spPr>
          <a:xfrm>
            <a:off x="2970000" y="3305775"/>
            <a:ext cx="1830300" cy="295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00:30-01:00 demand</a:t>
            </a:r>
            <a:endParaRPr>
              <a:solidFill>
                <a:schemeClr val="accent6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7" name="Google Shape;767;g3d98845a964_9_24"/>
          <p:cNvSpPr/>
          <p:nvPr/>
        </p:nvSpPr>
        <p:spPr>
          <a:xfrm>
            <a:off x="3845700" y="3651438"/>
            <a:ext cx="78900" cy="94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8" name="Google Shape;768;g3d98845a964_9_24"/>
          <p:cNvSpPr/>
          <p:nvPr/>
        </p:nvSpPr>
        <p:spPr>
          <a:xfrm>
            <a:off x="3845700" y="3796413"/>
            <a:ext cx="78900" cy="94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9" name="Google Shape;769;g3d98845a964_9_24"/>
          <p:cNvSpPr/>
          <p:nvPr/>
        </p:nvSpPr>
        <p:spPr>
          <a:xfrm>
            <a:off x="3845700" y="3937525"/>
            <a:ext cx="78900" cy="94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0" name="Google Shape;770;g3d98845a964_9_24"/>
          <p:cNvSpPr/>
          <p:nvPr/>
        </p:nvSpPr>
        <p:spPr>
          <a:xfrm>
            <a:off x="2970000" y="4078625"/>
            <a:ext cx="1830300" cy="295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23:30-00:00 demand</a:t>
            </a:r>
            <a:endParaRPr>
              <a:solidFill>
                <a:schemeClr val="accent6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1" name="Google Shape;771;g3d98845a964_9_24"/>
          <p:cNvSpPr/>
          <p:nvPr/>
        </p:nvSpPr>
        <p:spPr>
          <a:xfrm>
            <a:off x="4800300" y="2940750"/>
            <a:ext cx="152400" cy="1428600"/>
          </a:xfrm>
          <a:prstGeom prst="rightBrace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2" name="Google Shape;772;g3d98845a964_9_24"/>
          <p:cNvSpPr/>
          <p:nvPr/>
        </p:nvSpPr>
        <p:spPr>
          <a:xfrm>
            <a:off x="4952700" y="3500925"/>
            <a:ext cx="1873500" cy="295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One 24-hour demand</a:t>
            </a:r>
            <a:endParaRPr>
              <a:solidFill>
                <a:schemeClr val="accent6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d98845a964_9_38"/>
          <p:cNvSpPr txBox="1"/>
          <p:nvPr>
            <p:ph type="title"/>
          </p:nvPr>
        </p:nvSpPr>
        <p:spPr>
          <a:xfrm>
            <a:off x="1625877" y="262050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Dataset Overview and Feature Construction</a:t>
            </a:r>
            <a:endParaRPr sz="2000"/>
          </a:p>
        </p:txBody>
      </p:sp>
      <p:sp>
        <p:nvSpPr>
          <p:cNvPr id="778" name="Google Shape;778;g3d98845a964_9_38"/>
          <p:cNvSpPr txBox="1"/>
          <p:nvPr>
            <p:ph idx="1" type="subTitle"/>
          </p:nvPr>
        </p:nvSpPr>
        <p:spPr>
          <a:xfrm>
            <a:off x="1054241" y="1356769"/>
            <a:ext cx="72048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Hanken Grotesk"/>
                <a:ea typeface="Hanken Grotesk"/>
                <a:cs typeface="Hanken Grotesk"/>
                <a:sym typeface="Hanken Grotesk"/>
              </a:rPr>
              <a:t>Main feature groups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Figtree Black"/>
                <a:ea typeface="Figtree Black"/>
                <a:cs typeface="Figtree Black"/>
                <a:sym typeface="Figtree Black"/>
              </a:rPr>
              <a:t>Lagged demand: </a:t>
            </a:r>
            <a:r>
              <a:rPr lang="en-US"/>
              <a:t>DEMAND_LAG1, DEMAND_LAG7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Figtree Black"/>
                <a:ea typeface="Figtree Black"/>
                <a:cs typeface="Figtree Black"/>
                <a:sym typeface="Figtree Black"/>
              </a:rPr>
              <a:t>Temperature: </a:t>
            </a:r>
            <a:r>
              <a:rPr lang="en-US"/>
              <a:t>T_MAX, T_MIN, T_MEAN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Figtree Black"/>
                <a:ea typeface="Figtree Black"/>
                <a:cs typeface="Figtree Black"/>
                <a:sym typeface="Figtree Black"/>
              </a:rPr>
              <a:t>Calendar: </a:t>
            </a:r>
            <a:r>
              <a:rPr lang="en-US"/>
              <a:t>IS_HOLIDAY, DATE </a:t>
            </a:r>
            <a:r>
              <a:rPr lang="en-US" sz="1800"/>
              <a:t>(</a:t>
            </a:r>
            <a:r>
              <a:rPr lang="en-US" sz="1200"/>
              <a:t>YEAR, MONTH, DAY, WEEKDAY(Day of week), WEEKOFYEAR, DAYOFYEAR</a:t>
            </a:r>
            <a:r>
              <a:rPr lang="en-US" sz="1800"/>
              <a:t>)</a:t>
            </a:r>
            <a:endParaRPr/>
          </a:p>
        </p:txBody>
      </p:sp>
      <p:sp>
        <p:nvSpPr>
          <p:cNvPr id="779" name="Google Shape;779;g3d98845a964_9_38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d98845a964_9_44"/>
          <p:cNvSpPr txBox="1"/>
          <p:nvPr>
            <p:ph type="title"/>
          </p:nvPr>
        </p:nvSpPr>
        <p:spPr>
          <a:xfrm>
            <a:off x="1625877" y="262050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Main EDA Patterns</a:t>
            </a:r>
            <a:endParaRPr sz="2000"/>
          </a:p>
        </p:txBody>
      </p:sp>
      <p:sp>
        <p:nvSpPr>
          <p:cNvPr id="785" name="Google Shape;785;g3d98845a964_9_44"/>
          <p:cNvSpPr txBox="1"/>
          <p:nvPr>
            <p:ph idx="1" type="subTitle"/>
          </p:nvPr>
        </p:nvSpPr>
        <p:spPr>
          <a:xfrm>
            <a:off x="932322" y="1238550"/>
            <a:ext cx="43635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Hanken Grotesk"/>
                <a:ea typeface="Hanken Grotesk"/>
                <a:cs typeface="Hanken Grotesk"/>
                <a:sym typeface="Hanken Grotesk"/>
              </a:rPr>
              <a:t>Distribution of TOTAL_DEMAND</a:t>
            </a:r>
            <a:endParaRPr/>
          </a:p>
        </p:txBody>
      </p:sp>
      <p:sp>
        <p:nvSpPr>
          <p:cNvPr id="786" name="Google Shape;786;g3d98845a964_9_44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pic>
        <p:nvPicPr>
          <p:cNvPr id="787" name="Google Shape;787;g3d98845a964_9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9939" y="1632725"/>
            <a:ext cx="4775059" cy="27612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8" name="Google Shape;788;g3d98845a964_9_44"/>
          <p:cNvGrpSpPr/>
          <p:nvPr/>
        </p:nvGrpSpPr>
        <p:grpSpPr>
          <a:xfrm>
            <a:off x="1190361" y="1943750"/>
            <a:ext cx="2125500" cy="1638034"/>
            <a:chOff x="3756960" y="200"/>
            <a:chExt cx="2125500" cy="1638034"/>
          </a:xfrm>
        </p:grpSpPr>
        <p:sp>
          <p:nvSpPr>
            <p:cNvPr id="789" name="Google Shape;789;g3d98845a964_9_44"/>
            <p:cNvSpPr/>
            <p:nvPr/>
          </p:nvSpPr>
          <p:spPr>
            <a:xfrm>
              <a:off x="3756960" y="200"/>
              <a:ext cx="2125500" cy="655200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g3d98845a964_9_44"/>
            <p:cNvSpPr txBox="1"/>
            <p:nvPr/>
          </p:nvSpPr>
          <p:spPr>
            <a:xfrm>
              <a:off x="3776151" y="19391"/>
              <a:ext cx="2087100" cy="6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 severely skewed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d98845a964_9_44"/>
            <p:cNvSpPr/>
            <p:nvPr/>
          </p:nvSpPr>
          <p:spPr>
            <a:xfrm rot="5400000">
              <a:off x="4696774" y="671774"/>
              <a:ext cx="245700" cy="2949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g3d98845a964_9_44"/>
            <p:cNvSpPr txBox="1"/>
            <p:nvPr/>
          </p:nvSpPr>
          <p:spPr>
            <a:xfrm>
              <a:off x="4731194" y="696374"/>
              <a:ext cx="177000" cy="1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3d98845a964_9_44"/>
            <p:cNvSpPr/>
            <p:nvPr/>
          </p:nvSpPr>
          <p:spPr>
            <a:xfrm>
              <a:off x="3756960" y="983034"/>
              <a:ext cx="2125500" cy="655200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g3d98845a964_9_44"/>
            <p:cNvSpPr txBox="1"/>
            <p:nvPr/>
          </p:nvSpPr>
          <p:spPr>
            <a:xfrm>
              <a:off x="3776151" y="1002225"/>
              <a:ext cx="2087100" cy="6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 strong transformation was required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g3d98845a964_9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2378" y="2123304"/>
            <a:ext cx="5805745" cy="2460316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g3d98845a964_9_58"/>
          <p:cNvSpPr txBox="1"/>
          <p:nvPr>
            <p:ph type="title"/>
          </p:nvPr>
        </p:nvSpPr>
        <p:spPr>
          <a:xfrm>
            <a:off x="1625877" y="205374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Main EDA Patterns</a:t>
            </a:r>
            <a:endParaRPr sz="2000"/>
          </a:p>
        </p:txBody>
      </p:sp>
      <p:sp>
        <p:nvSpPr>
          <p:cNvPr id="801" name="Google Shape;801;g3d98845a964_9_58"/>
          <p:cNvSpPr txBox="1"/>
          <p:nvPr>
            <p:ph idx="1" type="subTitle"/>
          </p:nvPr>
        </p:nvSpPr>
        <p:spPr>
          <a:xfrm>
            <a:off x="1488582" y="835168"/>
            <a:ext cx="83718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Daily trajectory of </a:t>
            </a:r>
            <a:r>
              <a:rPr lang="en-US"/>
              <a:t>TOTAL_DEMAND</a:t>
            </a:r>
            <a:endParaRPr sz="16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Not constant over time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Repeated upward and downward movements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Suggests temporal dependence</a:t>
            </a:r>
            <a:endParaRPr/>
          </a:p>
        </p:txBody>
      </p:sp>
      <p:sp>
        <p:nvSpPr>
          <p:cNvPr id="802" name="Google Shape;802;g3d98845a964_9_58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d98845a964_9_65"/>
          <p:cNvSpPr txBox="1"/>
          <p:nvPr>
            <p:ph type="title"/>
          </p:nvPr>
        </p:nvSpPr>
        <p:spPr>
          <a:xfrm>
            <a:off x="1625877" y="262050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Main EDA Patterns</a:t>
            </a:r>
            <a:endParaRPr sz="2000"/>
          </a:p>
        </p:txBody>
      </p:sp>
      <p:sp>
        <p:nvSpPr>
          <p:cNvPr id="808" name="Google Shape;808;g3d98845a964_9_65"/>
          <p:cNvSpPr txBox="1"/>
          <p:nvPr>
            <p:ph idx="1" type="subTitle"/>
          </p:nvPr>
        </p:nvSpPr>
        <p:spPr>
          <a:xfrm>
            <a:off x="932322" y="1128252"/>
            <a:ext cx="65859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Difference in </a:t>
            </a:r>
            <a:r>
              <a:rPr lang="en-US"/>
              <a:t>TOTAL_DEMAND</a:t>
            </a:r>
            <a:r>
              <a:rPr lang="en-US" sz="1600"/>
              <a:t> between holidays and non-holidays</a:t>
            </a:r>
            <a:endParaRPr sz="16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9" name="Google Shape;809;g3d98845a964_9_65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pic>
        <p:nvPicPr>
          <p:cNvPr id="810" name="Google Shape;810;g3d98845a964_9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2169" y="1616128"/>
            <a:ext cx="4229508" cy="287002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g3d98845a964_9_65"/>
          <p:cNvSpPr txBox="1"/>
          <p:nvPr/>
        </p:nvSpPr>
        <p:spPr>
          <a:xfrm>
            <a:off x="932321" y="1616128"/>
            <a:ext cx="31290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Calendar effects are also visible.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Holiday demand is about 12.1% lower than non-holiday demand on average.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g3d98845a964_9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047" y="2238696"/>
            <a:ext cx="6429907" cy="228028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g3d98845a964_9_73"/>
          <p:cNvSpPr txBox="1"/>
          <p:nvPr>
            <p:ph type="title"/>
          </p:nvPr>
        </p:nvSpPr>
        <p:spPr>
          <a:xfrm>
            <a:off x="1625877" y="216797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Main EDA Patterns</a:t>
            </a:r>
            <a:endParaRPr sz="2000"/>
          </a:p>
        </p:txBody>
      </p:sp>
      <p:sp>
        <p:nvSpPr>
          <p:cNvPr id="818" name="Google Shape;818;g3d98845a964_9_73"/>
          <p:cNvSpPr txBox="1"/>
          <p:nvPr>
            <p:ph idx="1" type="subTitle"/>
          </p:nvPr>
        </p:nvSpPr>
        <p:spPr>
          <a:xfrm>
            <a:off x="1491060" y="914147"/>
            <a:ext cx="94536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Figtree Black"/>
                <a:ea typeface="Figtree Black"/>
                <a:cs typeface="Figtree Black"/>
                <a:sym typeface="Figtree Black"/>
              </a:rPr>
              <a:t>Scatterplots of TOTAL_DEMAND against DEMAND_LAG1 and DEMAND_LAG7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DEMAND_LAG1 and DEMAND_LAG7 show a strong positive relationship with TOTAL_DEMAND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200"/>
              <a:t>DEMAND_LAG1 has a correlation of 0.7994 with the target.  </a:t>
            </a:r>
            <a:r>
              <a:rPr lang="en-US" sz="12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Short-term dependence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200"/>
              <a:t>DEMAND_LAG7 has a correlation of 0.7154 with the target.  </a:t>
            </a:r>
            <a:r>
              <a:rPr lang="en-US" sz="1200">
                <a:latin typeface="Figtree Black"/>
                <a:ea typeface="Figtree Black"/>
                <a:cs typeface="Figtree Black"/>
                <a:sym typeface="Figtree Black"/>
              </a:rPr>
              <a:t>Weekly dependence</a:t>
            </a:r>
            <a:endParaRPr/>
          </a:p>
        </p:txBody>
      </p:sp>
      <p:sp>
        <p:nvSpPr>
          <p:cNvPr id="819" name="Google Shape;819;g3d98845a964_9_73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d98845a964_9_80"/>
          <p:cNvSpPr txBox="1"/>
          <p:nvPr>
            <p:ph type="title"/>
          </p:nvPr>
        </p:nvSpPr>
        <p:spPr>
          <a:xfrm>
            <a:off x="1625877" y="262050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Main EDA Patterns</a:t>
            </a:r>
            <a:endParaRPr sz="2000"/>
          </a:p>
        </p:txBody>
      </p:sp>
      <p:sp>
        <p:nvSpPr>
          <p:cNvPr id="825" name="Google Shape;825;g3d98845a964_9_80"/>
          <p:cNvSpPr txBox="1"/>
          <p:nvPr>
            <p:ph idx="1" type="subTitle"/>
          </p:nvPr>
        </p:nvSpPr>
        <p:spPr>
          <a:xfrm>
            <a:off x="932321" y="1143308"/>
            <a:ext cx="65859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Temperature Multicollinearity</a:t>
            </a:r>
            <a:endParaRPr sz="16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6" name="Google Shape;826;g3d98845a964_9_80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827" name="Google Shape;827;g3d98845a964_9_80"/>
          <p:cNvSpPr txBox="1"/>
          <p:nvPr/>
        </p:nvSpPr>
        <p:spPr>
          <a:xfrm>
            <a:off x="932321" y="1616128"/>
            <a:ext cx="31290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T_MAX, T_MIN, and T_MEAN are strongly correlated. 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This may cause </a:t>
            </a:r>
            <a:r>
              <a:rPr b="1" i="0" lang="en-US" sz="1400" u="none" cap="none" strike="noStrike">
                <a:solidFill>
                  <a:srgbClr val="CC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coefficient instability</a:t>
            </a: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in </a:t>
            </a:r>
            <a:r>
              <a:rPr b="1" i="0" lang="en-US" sz="1400" u="none" cap="none" strike="noStrike">
                <a:solidFill>
                  <a:srgbClr val="CC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linear models</a:t>
            </a:r>
            <a:r>
              <a:rPr b="0" i="0" lang="en-US" sz="1400" u="none" cap="none" strike="noStrike">
                <a:solidFill>
                  <a:srgbClr val="99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>
              <a:solidFill>
                <a:srgbClr val="990000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So, when building the linear models, deleting T_MEAN is a good choice to reduce multicollinearity. </a:t>
            </a:r>
            <a:endParaRPr/>
          </a:p>
        </p:txBody>
      </p:sp>
      <p:pic>
        <p:nvPicPr>
          <p:cNvPr id="828" name="Google Shape;828;g3d98845a964_9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731" y="1128252"/>
            <a:ext cx="3576069" cy="321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g3d98845a964_9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59" y="719403"/>
            <a:ext cx="4305487" cy="383735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3d98845a964_9_88"/>
          <p:cNvSpPr txBox="1"/>
          <p:nvPr>
            <p:ph type="title"/>
          </p:nvPr>
        </p:nvSpPr>
        <p:spPr>
          <a:xfrm>
            <a:off x="1625877" y="208710"/>
            <a:ext cx="5892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/>
              <a:t>Main EDA Patterns</a:t>
            </a:r>
            <a:endParaRPr sz="2000"/>
          </a:p>
        </p:txBody>
      </p:sp>
      <p:sp>
        <p:nvSpPr>
          <p:cNvPr id="835" name="Google Shape;835;g3d98845a964_9_88"/>
          <p:cNvSpPr txBox="1"/>
          <p:nvPr>
            <p:ph idx="1" type="subTitle"/>
          </p:nvPr>
        </p:nvSpPr>
        <p:spPr>
          <a:xfrm>
            <a:off x="1496998" y="869458"/>
            <a:ext cx="5385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Key EDA Findings</a:t>
            </a:r>
            <a:endParaRPr sz="15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36" name="Google Shape;836;g3d98845a964_9_88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837" name="Google Shape;837;g3d98845a964_9_88"/>
          <p:cNvSpPr txBox="1"/>
          <p:nvPr/>
        </p:nvSpPr>
        <p:spPr>
          <a:xfrm>
            <a:off x="848500" y="1227374"/>
            <a:ext cx="3213000" cy="28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Lagged demand is the strongest predictive signal. 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DEMAND_LAG1 = 0.80, DEMAND_LAG7 = 0.72 with TOTAL_DEMAND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Calendar effects should be included. 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WEEKDAY and IS_HOLIDAY show visible relationships with TOTAL_DEMAND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Temperature variables should be handled carefully.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d98845a964_9_0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Elegant Black and White Thesis Defense</a:t>
            </a:r>
            <a:endParaRPr/>
          </a:p>
        </p:txBody>
      </p:sp>
      <p:sp>
        <p:nvSpPr>
          <p:cNvPr id="843" name="Google Shape;843;g3d98845a964_9_0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Here is where your presentation begins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4" name="Google Shape;844;g3d98845a964_9_0"/>
          <p:cNvSpPr/>
          <p:nvPr/>
        </p:nvSpPr>
        <p:spPr>
          <a:xfrm>
            <a:off x="0" y="9335"/>
            <a:ext cx="9144000" cy="5143500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d98845a964_9_0"/>
          <p:cNvSpPr txBox="1"/>
          <p:nvPr/>
        </p:nvSpPr>
        <p:spPr>
          <a:xfrm>
            <a:off x="640080" y="41148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Chapter 3 Methodology</a:t>
            </a:r>
            <a:endParaRPr/>
          </a:p>
        </p:txBody>
      </p:sp>
      <p:sp>
        <p:nvSpPr>
          <p:cNvPr id="846" name="Google Shape;846;g3d98845a964_9_0"/>
          <p:cNvSpPr txBox="1"/>
          <p:nvPr/>
        </p:nvSpPr>
        <p:spPr>
          <a:xfrm>
            <a:off x="658368" y="1874519"/>
            <a:ext cx="12801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47" name="Google Shape;847;g3d98845a964_9_0"/>
          <p:cNvSpPr/>
          <p:nvPr/>
        </p:nvSpPr>
        <p:spPr>
          <a:xfrm>
            <a:off x="2057400" y="2240280"/>
            <a:ext cx="5303400" cy="321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d98845a964_9_0"/>
          <p:cNvSpPr txBox="1"/>
          <p:nvPr/>
        </p:nvSpPr>
        <p:spPr>
          <a:xfrm>
            <a:off x="2057400" y="2395728"/>
            <a:ext cx="530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Day-ahead electricity demand forecasting in NSW</a:t>
            </a:r>
            <a:endParaRPr/>
          </a:p>
        </p:txBody>
      </p:sp>
      <p:sp>
        <p:nvSpPr>
          <p:cNvPr id="849" name="Google Shape;849;g3d98845a964_9_0"/>
          <p:cNvSpPr txBox="1"/>
          <p:nvPr/>
        </p:nvSpPr>
        <p:spPr>
          <a:xfrm>
            <a:off x="2057400" y="2788920"/>
            <a:ext cx="3722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Focus: model design, training strategy and results</a:t>
            </a:r>
            <a:endParaRPr/>
          </a:p>
        </p:txBody>
      </p:sp>
      <p:pic>
        <p:nvPicPr>
          <p:cNvPr id="850" name="Google Shape;850;g3d98845a964_9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988" y="3413628"/>
            <a:ext cx="7128027" cy="112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d9989b56e4_0_0"/>
          <p:cNvSpPr txBox="1"/>
          <p:nvPr>
            <p:ph idx="4294967295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sp>
        <p:nvSpPr>
          <p:cNvPr id="856" name="Google Shape;856;g3d9989b56e4_0_0"/>
          <p:cNvSpPr txBox="1"/>
          <p:nvPr/>
        </p:nvSpPr>
        <p:spPr>
          <a:xfrm>
            <a:off x="1641205" y="65986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Regression models</a:t>
            </a:r>
            <a:endParaRPr/>
          </a:p>
        </p:txBody>
      </p:sp>
      <p:sp>
        <p:nvSpPr>
          <p:cNvPr id="857" name="Google Shape;857;g3d9989b56e4_0_0"/>
          <p:cNvSpPr txBox="1"/>
          <p:nvPr/>
        </p:nvSpPr>
        <p:spPr>
          <a:xfrm>
            <a:off x="1641203" y="1156437"/>
            <a:ext cx="7498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Why these models were selected and how they were trained</a:t>
            </a:r>
            <a:endParaRPr/>
          </a:p>
        </p:txBody>
      </p:sp>
      <p:sp>
        <p:nvSpPr>
          <p:cNvPr id="858" name="Google Shape;858;g3d9989b56e4_0_0"/>
          <p:cNvSpPr/>
          <p:nvPr/>
        </p:nvSpPr>
        <p:spPr>
          <a:xfrm>
            <a:off x="1068600" y="1672524"/>
            <a:ext cx="3222600" cy="27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d9989b56e4_0_0"/>
          <p:cNvSpPr/>
          <p:nvPr/>
        </p:nvSpPr>
        <p:spPr>
          <a:xfrm>
            <a:off x="4866475" y="1672524"/>
            <a:ext cx="3222600" cy="27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d9989b56e4_0_0"/>
          <p:cNvSpPr txBox="1"/>
          <p:nvPr/>
        </p:nvSpPr>
        <p:spPr>
          <a:xfrm>
            <a:off x="1269299" y="1775072"/>
            <a:ext cx="2697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 choice</a:t>
            </a:r>
            <a:endParaRPr/>
          </a:p>
        </p:txBody>
      </p:sp>
      <p:sp>
        <p:nvSpPr>
          <p:cNvPr id="861" name="Google Shape;861;g3d9989b56e4_0_0"/>
          <p:cNvSpPr txBox="1"/>
          <p:nvPr/>
        </p:nvSpPr>
        <p:spPr>
          <a:xfrm>
            <a:off x="1269300" y="2152125"/>
            <a:ext cx="29826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1827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Ridge and Lasso for regularization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Random Forest for nonlinearity </a:t>
            </a:r>
            <a:r>
              <a:rPr lang="en-US" sz="1150">
                <a:solidFill>
                  <a:srgbClr val="333333"/>
                </a:solidFill>
              </a:rPr>
              <a:t>benchmark for comparison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-US" sz="1150">
                <a:solidFill>
                  <a:srgbClr val="333333"/>
                </a:solidFill>
              </a:rPr>
              <a:t>compare interpretable linear baselines with a nonlinear ensemble benchmark</a:t>
            </a:r>
            <a:endParaRPr sz="1200"/>
          </a:p>
        </p:txBody>
      </p:sp>
      <p:sp>
        <p:nvSpPr>
          <p:cNvPr id="862" name="Google Shape;862;g3d9989b56e4_0_0"/>
          <p:cNvSpPr txBox="1"/>
          <p:nvPr/>
        </p:nvSpPr>
        <p:spPr>
          <a:xfrm>
            <a:off x="5097952" y="1775075"/>
            <a:ext cx="1912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Training strategy</a:t>
            </a:r>
            <a:endParaRPr/>
          </a:p>
        </p:txBody>
      </p:sp>
      <p:sp>
        <p:nvSpPr>
          <p:cNvPr id="863" name="Google Shape;863;g3d9989b56e4_0_0"/>
          <p:cNvSpPr txBox="1"/>
          <p:nvPr/>
        </p:nvSpPr>
        <p:spPr>
          <a:xfrm>
            <a:off x="5097955" y="2103120"/>
            <a:ext cx="2922300" cy="20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1827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80% training set / 20% testing set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Chronological split to avoid leakage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3333"/>
                </a:solidFill>
              </a:rPr>
              <a:t>GridSearchCV with TimeseriesSplit for hyperparameter tuning</a:t>
            </a:r>
            <a:endParaRPr sz="105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3333"/>
                </a:solidFill>
              </a:rPr>
              <a:t>Best model selected by Cross-validated RMSE</a:t>
            </a:r>
            <a:endParaRPr sz="105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Evaluation: MAE, RMSE, MAPE, R²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d9989b56e4_0_7"/>
          <p:cNvSpPr txBox="1"/>
          <p:nvPr>
            <p:ph idx="4294967295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sp>
        <p:nvSpPr>
          <p:cNvPr id="869" name="Google Shape;869;g3d9989b56e4_0_7"/>
          <p:cNvSpPr txBox="1"/>
          <p:nvPr/>
        </p:nvSpPr>
        <p:spPr>
          <a:xfrm>
            <a:off x="1648705" y="65986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Regression results</a:t>
            </a:r>
            <a:endParaRPr/>
          </a:p>
        </p:txBody>
      </p:sp>
      <p:sp>
        <p:nvSpPr>
          <p:cNvPr id="870" name="Google Shape;870;g3d9989b56e4_0_7"/>
          <p:cNvSpPr txBox="1"/>
          <p:nvPr/>
        </p:nvSpPr>
        <p:spPr>
          <a:xfrm>
            <a:off x="1648693" y="1112257"/>
            <a:ext cx="7498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Random Forest was the strongest regression benchmark</a:t>
            </a:r>
            <a:endParaRPr/>
          </a:p>
        </p:txBody>
      </p:sp>
      <p:sp>
        <p:nvSpPr>
          <p:cNvPr id="871" name="Google Shape;871;g3d9989b56e4_0_7"/>
          <p:cNvSpPr/>
          <p:nvPr/>
        </p:nvSpPr>
        <p:spPr>
          <a:xfrm>
            <a:off x="1033495" y="1421580"/>
            <a:ext cx="14172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2" name="Google Shape;872;g3d9989b56e4_0_7"/>
          <p:cNvGraphicFramePr/>
          <p:nvPr/>
        </p:nvGraphicFramePr>
        <p:xfrm>
          <a:off x="1084503" y="22904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{BD2082C7-EB36-4DC5-AD51-0F24448390E4}</a:tableStyleId>
              </a:tblPr>
              <a:tblGrid>
                <a:gridCol w="2232000"/>
                <a:gridCol w="1185750"/>
                <a:gridCol w="1185750"/>
                <a:gridCol w="1185750"/>
                <a:gridCol w="1185750"/>
              </a:tblGrid>
              <a:tr h="31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MAE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RMSE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MAPE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R²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</a:tr>
              <a:tr h="31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333"/>
                          </a:solidFill>
                        </a:rPr>
                        <a:t>Random Forest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10,500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13,936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2.844%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0.8659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</a:tr>
              <a:tr h="31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Lasso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14,140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18,581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3.732%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0.7616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</a:tr>
              <a:tr h="31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Ridge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14,141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18,585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3.732%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0.7614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</a:tr>
              <a:tr h="31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Linear Reg.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14,193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18,616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3.748%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0.7607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3" name="Google Shape;873;g3d9989b56e4_0_7"/>
          <p:cNvSpPr/>
          <p:nvPr/>
        </p:nvSpPr>
        <p:spPr>
          <a:xfrm>
            <a:off x="1033500" y="3963952"/>
            <a:ext cx="7077000" cy="583800"/>
          </a:xfrm>
          <a:prstGeom prst="roundRect">
            <a:avLst>
              <a:gd fmla="val 16667" name="adj"/>
            </a:avLst>
          </a:prstGeom>
          <a:solidFill>
            <a:srgbClr val="E8E7E7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g3d9989b56e4_0_7"/>
          <p:cNvSpPr txBox="1"/>
          <p:nvPr/>
        </p:nvSpPr>
        <p:spPr>
          <a:xfrm>
            <a:off x="1084510" y="3963942"/>
            <a:ext cx="1600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Key interpretation</a:t>
            </a:r>
            <a:endParaRPr/>
          </a:p>
        </p:txBody>
      </p:sp>
      <p:sp>
        <p:nvSpPr>
          <p:cNvPr id="875" name="Google Shape;875;g3d9989b56e4_0_7"/>
          <p:cNvSpPr txBox="1"/>
          <p:nvPr/>
        </p:nvSpPr>
        <p:spPr>
          <a:xfrm>
            <a:off x="1509452" y="4203950"/>
            <a:ext cx="6125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Random Forest captures nonlinear effects and interactions better than the linear-family models.</a:t>
            </a:r>
            <a:endParaRPr/>
          </a:p>
        </p:txBody>
      </p:sp>
      <p:sp>
        <p:nvSpPr>
          <p:cNvPr id="876" name="Google Shape;876;g3d9989b56e4_0_7"/>
          <p:cNvSpPr/>
          <p:nvPr/>
        </p:nvSpPr>
        <p:spPr>
          <a:xfrm>
            <a:off x="2861345" y="1438755"/>
            <a:ext cx="14172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3d9989b56e4_0_7"/>
          <p:cNvSpPr/>
          <p:nvPr/>
        </p:nvSpPr>
        <p:spPr>
          <a:xfrm>
            <a:off x="4689195" y="1438755"/>
            <a:ext cx="14172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d9989b56e4_0_7"/>
          <p:cNvSpPr/>
          <p:nvPr/>
        </p:nvSpPr>
        <p:spPr>
          <a:xfrm>
            <a:off x="6517045" y="1438755"/>
            <a:ext cx="14172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d9989b56e4_0_7"/>
          <p:cNvSpPr txBox="1"/>
          <p:nvPr/>
        </p:nvSpPr>
        <p:spPr>
          <a:xfrm>
            <a:off x="1143148" y="1523957"/>
            <a:ext cx="1197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Best MAE</a:t>
            </a:r>
            <a:endParaRPr/>
          </a:p>
        </p:txBody>
      </p:sp>
      <p:sp>
        <p:nvSpPr>
          <p:cNvPr id="880" name="Google Shape;880;g3d9989b56e4_0_7"/>
          <p:cNvSpPr txBox="1"/>
          <p:nvPr/>
        </p:nvSpPr>
        <p:spPr>
          <a:xfrm>
            <a:off x="1106547" y="1728676"/>
            <a:ext cx="1271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10,499.60</a:t>
            </a:r>
            <a:endParaRPr/>
          </a:p>
        </p:txBody>
      </p:sp>
      <p:sp>
        <p:nvSpPr>
          <p:cNvPr id="881" name="Google Shape;881;g3d9989b56e4_0_7"/>
          <p:cNvSpPr txBox="1"/>
          <p:nvPr/>
        </p:nvSpPr>
        <p:spPr>
          <a:xfrm>
            <a:off x="2970998" y="1523957"/>
            <a:ext cx="1197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Best RMSE</a:t>
            </a:r>
            <a:endParaRPr/>
          </a:p>
        </p:txBody>
      </p:sp>
      <p:sp>
        <p:nvSpPr>
          <p:cNvPr id="882" name="Google Shape;882;g3d9989b56e4_0_7"/>
          <p:cNvSpPr txBox="1"/>
          <p:nvPr/>
        </p:nvSpPr>
        <p:spPr>
          <a:xfrm>
            <a:off x="2934397" y="1701326"/>
            <a:ext cx="1271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13,935.97</a:t>
            </a:r>
            <a:endParaRPr/>
          </a:p>
        </p:txBody>
      </p:sp>
      <p:sp>
        <p:nvSpPr>
          <p:cNvPr id="883" name="Google Shape;883;g3d9989b56e4_0_7"/>
          <p:cNvSpPr txBox="1"/>
          <p:nvPr/>
        </p:nvSpPr>
        <p:spPr>
          <a:xfrm>
            <a:off x="4762323" y="1523957"/>
            <a:ext cx="1197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Best MAPE</a:t>
            </a:r>
            <a:endParaRPr/>
          </a:p>
        </p:txBody>
      </p:sp>
      <p:sp>
        <p:nvSpPr>
          <p:cNvPr id="884" name="Google Shape;884;g3d9989b56e4_0_7"/>
          <p:cNvSpPr txBox="1"/>
          <p:nvPr/>
        </p:nvSpPr>
        <p:spPr>
          <a:xfrm>
            <a:off x="4725722" y="1701326"/>
            <a:ext cx="1271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2.844%</a:t>
            </a:r>
            <a:endParaRPr/>
          </a:p>
        </p:txBody>
      </p:sp>
      <p:sp>
        <p:nvSpPr>
          <p:cNvPr id="885" name="Google Shape;885;g3d9989b56e4_0_7"/>
          <p:cNvSpPr txBox="1"/>
          <p:nvPr/>
        </p:nvSpPr>
        <p:spPr>
          <a:xfrm>
            <a:off x="6626698" y="1523957"/>
            <a:ext cx="1197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Best R²</a:t>
            </a:r>
            <a:endParaRPr/>
          </a:p>
        </p:txBody>
      </p:sp>
      <p:sp>
        <p:nvSpPr>
          <p:cNvPr id="886" name="Google Shape;886;g3d9989b56e4_0_7"/>
          <p:cNvSpPr txBox="1"/>
          <p:nvPr/>
        </p:nvSpPr>
        <p:spPr>
          <a:xfrm>
            <a:off x="6590097" y="1701326"/>
            <a:ext cx="1271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0.8659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d9989b56e4_0_17"/>
          <p:cNvSpPr txBox="1"/>
          <p:nvPr>
            <p:ph idx="4294967295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sp>
        <p:nvSpPr>
          <p:cNvPr id="892" name="Google Shape;892;g3d9989b56e4_0_17"/>
          <p:cNvSpPr txBox="1"/>
          <p:nvPr/>
        </p:nvSpPr>
        <p:spPr>
          <a:xfrm>
            <a:off x="1665395" y="65986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Time series models</a:t>
            </a:r>
            <a:endParaRPr/>
          </a:p>
        </p:txBody>
      </p:sp>
      <p:sp>
        <p:nvSpPr>
          <p:cNvPr id="893" name="Google Shape;893;g3d9989b56e4_0_17"/>
          <p:cNvSpPr txBox="1"/>
          <p:nvPr/>
        </p:nvSpPr>
        <p:spPr>
          <a:xfrm>
            <a:off x="1665403" y="1112242"/>
            <a:ext cx="7498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SARIMA as a benchmark; SARIMAX with external variables</a:t>
            </a:r>
            <a:endParaRPr/>
          </a:p>
        </p:txBody>
      </p:sp>
      <p:sp>
        <p:nvSpPr>
          <p:cNvPr id="894" name="Google Shape;894;g3d9989b56e4_0_17"/>
          <p:cNvSpPr/>
          <p:nvPr/>
        </p:nvSpPr>
        <p:spPr>
          <a:xfrm>
            <a:off x="1029350" y="1465025"/>
            <a:ext cx="3158700" cy="296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d9989b56e4_0_17"/>
          <p:cNvSpPr txBox="1"/>
          <p:nvPr/>
        </p:nvSpPr>
        <p:spPr>
          <a:xfrm>
            <a:off x="1199100" y="1590375"/>
            <a:ext cx="164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 choice</a:t>
            </a:r>
            <a:endParaRPr/>
          </a:p>
        </p:txBody>
      </p:sp>
      <p:sp>
        <p:nvSpPr>
          <p:cNvPr id="896" name="Google Shape;896;g3d9989b56e4_0_17"/>
          <p:cNvSpPr txBox="1"/>
          <p:nvPr/>
        </p:nvSpPr>
        <p:spPr>
          <a:xfrm>
            <a:off x="1199100" y="1920250"/>
            <a:ext cx="2886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1827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SARIMA: demand history + seasonality only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SARIMAX: adds temperature, holiday and weekday variables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Purpose: whether adding ex</a:t>
            </a:r>
            <a:r>
              <a:rPr lang="en-US" sz="1050">
                <a:solidFill>
                  <a:srgbClr val="333333"/>
                </a:solidFill>
              </a:rPr>
              <a:t>ternal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variables could improve forecasts performance</a:t>
            </a:r>
            <a:endParaRPr sz="1200"/>
          </a:p>
        </p:txBody>
      </p:sp>
      <p:sp>
        <p:nvSpPr>
          <p:cNvPr id="897" name="Google Shape;897;g3d9989b56e4_0_17"/>
          <p:cNvSpPr txBox="1"/>
          <p:nvPr/>
        </p:nvSpPr>
        <p:spPr>
          <a:xfrm>
            <a:off x="1199100" y="3094610"/>
            <a:ext cx="27432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Training strategy</a:t>
            </a:r>
            <a:endParaRPr/>
          </a:p>
        </p:txBody>
      </p:sp>
      <p:sp>
        <p:nvSpPr>
          <p:cNvPr id="898" name="Google Shape;898;g3d9989b56e4_0_17"/>
          <p:cNvSpPr txBox="1"/>
          <p:nvPr/>
        </p:nvSpPr>
        <p:spPr>
          <a:xfrm>
            <a:off x="1209950" y="3456375"/>
            <a:ext cx="27975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1827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80% training / 20% testing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Orders selected by AIC grid search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Rolling one-step-ahead forecast</a:t>
            </a:r>
            <a:endParaRPr sz="1200"/>
          </a:p>
        </p:txBody>
      </p:sp>
      <p:pic>
        <p:nvPicPr>
          <p:cNvPr id="899" name="Google Shape;899;g3d9989b56e4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15748"/>
            <a:ext cx="3572774" cy="1826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g3d9989b56e4_0_17"/>
          <p:cNvSpPr/>
          <p:nvPr/>
        </p:nvSpPr>
        <p:spPr>
          <a:xfrm>
            <a:off x="4280900" y="3551025"/>
            <a:ext cx="4078500" cy="330900"/>
          </a:xfrm>
          <a:prstGeom prst="roundRect">
            <a:avLst>
              <a:gd fmla="val 16667" name="adj"/>
            </a:avLst>
          </a:prstGeom>
          <a:solidFill>
            <a:srgbClr val="E8E7E7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d9989b56e4_0_17"/>
          <p:cNvSpPr txBox="1"/>
          <p:nvPr/>
        </p:nvSpPr>
        <p:spPr>
          <a:xfrm>
            <a:off x="4280894" y="3638032"/>
            <a:ext cx="41550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ACF </a:t>
            </a:r>
            <a:r>
              <a:rPr lang="en-US" sz="780">
                <a:solidFill>
                  <a:srgbClr val="333333"/>
                </a:solidFill>
              </a:rPr>
              <a:t>show</a:t>
            </a:r>
            <a:r>
              <a:rPr b="0" i="0" lang="en-US" sz="78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 strong short-term persistence and weekly seasonal pattern in electricity demand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d9989b56e4_0_13"/>
          <p:cNvSpPr txBox="1"/>
          <p:nvPr>
            <p:ph idx="4294967295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sp>
        <p:nvSpPr>
          <p:cNvPr id="907" name="Google Shape;907;g3d9989b56e4_0_13"/>
          <p:cNvSpPr txBox="1"/>
          <p:nvPr/>
        </p:nvSpPr>
        <p:spPr>
          <a:xfrm>
            <a:off x="1729195" y="65986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Time series results</a:t>
            </a:r>
            <a:endParaRPr/>
          </a:p>
        </p:txBody>
      </p:sp>
      <p:sp>
        <p:nvSpPr>
          <p:cNvPr id="908" name="Google Shape;908;g3d9989b56e4_0_13"/>
          <p:cNvSpPr txBox="1"/>
          <p:nvPr/>
        </p:nvSpPr>
        <p:spPr>
          <a:xfrm>
            <a:off x="1729193" y="1070557"/>
            <a:ext cx="7498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SARIMAX improved over SARIMA on every metric</a:t>
            </a:r>
            <a:endParaRPr/>
          </a:p>
        </p:txBody>
      </p:sp>
      <p:graphicFrame>
        <p:nvGraphicFramePr>
          <p:cNvPr id="909" name="Google Shape;909;g3d9989b56e4_0_13"/>
          <p:cNvGraphicFramePr/>
          <p:nvPr/>
        </p:nvGraphicFramePr>
        <p:xfrm>
          <a:off x="911490" y="1499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{BD2082C7-EB36-4DC5-AD51-0F24448390E4}</a:tableStyleId>
              </a:tblPr>
              <a:tblGrid>
                <a:gridCol w="1105475"/>
                <a:gridCol w="587275"/>
                <a:gridCol w="587275"/>
                <a:gridCol w="587275"/>
                <a:gridCol w="587275"/>
              </a:tblGrid>
              <a:tr h="36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MAE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RMSE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MAPE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R²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333333"/>
                    </a:solidFill>
                  </a:tcPr>
                </a:tc>
              </a:tr>
              <a:tr h="36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SARIMA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14,267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19,809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3.779%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0.729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FFFFF"/>
                    </a:solidFill>
                  </a:tcPr>
                </a:tc>
              </a:tr>
              <a:tr h="36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3333"/>
                          </a:solidFill>
                        </a:rPr>
                        <a:t>SARIMAX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11,326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15,753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2.991%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333333"/>
                          </a:solidFill>
                        </a:rPr>
                        <a:t>0.828</a:t>
                      </a:r>
                      <a:endParaRPr/>
                    </a:p>
                  </a:txBody>
                  <a:tcPr marT="27425" marB="27425" marR="36575" marL="36575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10" name="Google Shape;910;g3d9989b56e4_0_13"/>
          <p:cNvSpPr txBox="1"/>
          <p:nvPr/>
        </p:nvSpPr>
        <p:spPr>
          <a:xfrm>
            <a:off x="911490" y="2944368"/>
            <a:ext cx="2011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Key insight</a:t>
            </a:r>
            <a:endParaRPr/>
          </a:p>
        </p:txBody>
      </p:sp>
      <p:sp>
        <p:nvSpPr>
          <p:cNvPr id="911" name="Google Shape;911;g3d9989b56e4_0_13"/>
          <p:cNvSpPr txBox="1"/>
          <p:nvPr/>
        </p:nvSpPr>
        <p:spPr>
          <a:xfrm>
            <a:off x="888639" y="3331320"/>
            <a:ext cx="37947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1827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SARIMAX &gt; SARIMA across MAE, RMSE, MAPE and R².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External variables added useful predictive information.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Forecasts still appeared smoother than the actual series, especially around sharp peaks.</a:t>
            </a:r>
            <a:endParaRPr/>
          </a:p>
        </p:txBody>
      </p:sp>
      <p:pic>
        <p:nvPicPr>
          <p:cNvPr id="912" name="Google Shape;912;g3d9989b56e4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349" y="1315351"/>
            <a:ext cx="3501349" cy="17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g3d9989b56e4_0_13"/>
          <p:cNvSpPr/>
          <p:nvPr/>
        </p:nvSpPr>
        <p:spPr>
          <a:xfrm>
            <a:off x="4656375" y="3351200"/>
            <a:ext cx="3555300" cy="396900"/>
          </a:xfrm>
          <a:prstGeom prst="roundRect">
            <a:avLst>
              <a:gd fmla="val 16667" name="adj"/>
            </a:avLst>
          </a:prstGeom>
          <a:solidFill>
            <a:srgbClr val="E8E7E7"/>
          </a:solidFill>
          <a:ln cap="flat" cmpd="sng" w="9525">
            <a:solidFill>
              <a:srgbClr val="E8E7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3d9989b56e4_0_13"/>
          <p:cNvSpPr txBox="1"/>
          <p:nvPr/>
        </p:nvSpPr>
        <p:spPr>
          <a:xfrm>
            <a:off x="4788082" y="3384951"/>
            <a:ext cx="3291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SARIMAX followed the broad movement but missed some sharp fluctuations </a:t>
            </a:r>
            <a:r>
              <a:rPr lang="en-US" sz="950">
                <a:solidFill>
                  <a:srgbClr val="333333"/>
                </a:solidFill>
              </a:rPr>
              <a:t>on sharp peaks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d98845a964_2_75"/>
          <p:cNvSpPr txBox="1"/>
          <p:nvPr>
            <p:ph type="title"/>
          </p:nvPr>
        </p:nvSpPr>
        <p:spPr>
          <a:xfrm>
            <a:off x="722376" y="454360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     Extending Traditional Models</a:t>
            </a:r>
            <a:endParaRPr/>
          </a:p>
        </p:txBody>
      </p:sp>
      <p:sp>
        <p:nvSpPr>
          <p:cNvPr id="920" name="Google Shape;920;g3d98845a964_2_75"/>
          <p:cNvSpPr txBox="1"/>
          <p:nvPr/>
        </p:nvSpPr>
        <p:spPr>
          <a:xfrm>
            <a:off x="713225" y="4314400"/>
            <a:ext cx="77535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Extended using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&amp; Deep Learning </a:t>
            </a:r>
            <a:r>
              <a:rPr i="0" lang="en-US" sz="1600" u="none" cap="none" strike="noStrike">
                <a:solidFill>
                  <a:srgbClr val="000000"/>
                </a:solidFill>
              </a:rPr>
              <a:t>models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6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d98845a964_2_75"/>
          <p:cNvSpPr/>
          <p:nvPr/>
        </p:nvSpPr>
        <p:spPr>
          <a:xfrm>
            <a:off x="1116874" y="1345474"/>
            <a:ext cx="6942909" cy="2886892"/>
          </a:xfrm>
          <a:prstGeom prst="rect">
            <a:avLst/>
          </a:prstGeom>
          <a:solidFill>
            <a:srgbClr val="ADADAD"/>
          </a:solidFill>
          <a:ln cap="flat" cmpd="sng" w="25400">
            <a:solidFill>
              <a:srgbClr val="3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d98845a964_2_75"/>
          <p:cNvSpPr/>
          <p:nvPr/>
        </p:nvSpPr>
        <p:spPr>
          <a:xfrm>
            <a:off x="1571224" y="1815737"/>
            <a:ext cx="1675816" cy="202474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3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d98845a964_2_75"/>
          <p:cNvSpPr/>
          <p:nvPr/>
        </p:nvSpPr>
        <p:spPr>
          <a:xfrm>
            <a:off x="5804263" y="1776548"/>
            <a:ext cx="1569720" cy="202474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3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4" name="Google Shape;924;g3d98845a964_2_75"/>
          <p:cNvCxnSpPr/>
          <p:nvPr/>
        </p:nvCxnSpPr>
        <p:spPr>
          <a:xfrm>
            <a:off x="3760631" y="2936015"/>
            <a:ext cx="1448873" cy="0"/>
          </a:xfrm>
          <a:prstGeom prst="straightConnector1">
            <a:avLst/>
          </a:prstGeom>
          <a:noFill/>
          <a:ln cap="flat" cmpd="sng" w="76200">
            <a:solidFill>
              <a:srgbClr val="17161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5" name="Google Shape;925;g3d98845a964_2_75"/>
          <p:cNvSpPr txBox="1"/>
          <p:nvPr/>
        </p:nvSpPr>
        <p:spPr>
          <a:xfrm>
            <a:off x="1571224" y="1996225"/>
            <a:ext cx="1675816" cy="30777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Traditional Models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d98845a964_2_75"/>
          <p:cNvSpPr txBox="1"/>
          <p:nvPr/>
        </p:nvSpPr>
        <p:spPr>
          <a:xfrm>
            <a:off x="5804263" y="1996225"/>
            <a:ext cx="1569720" cy="30777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Extended Models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d98845a964_2_75"/>
          <p:cNvSpPr txBox="1"/>
          <p:nvPr/>
        </p:nvSpPr>
        <p:spPr>
          <a:xfrm>
            <a:off x="1672690" y="2585421"/>
            <a:ext cx="137813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relationships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d98845a964_2_75"/>
          <p:cNvSpPr txBox="1"/>
          <p:nvPr/>
        </p:nvSpPr>
        <p:spPr>
          <a:xfrm>
            <a:off x="5911403" y="2479183"/>
            <a:ext cx="125569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Nonlinear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patterns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d98845a964_2_75"/>
          <p:cNvSpPr txBox="1"/>
          <p:nvPr>
            <p:ph idx="4294967295" type="title"/>
          </p:nvPr>
        </p:nvSpPr>
        <p:spPr>
          <a:xfrm>
            <a:off x="215925" y="2348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dab08d03cc_0_7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    Modeling Framework</a:t>
            </a:r>
            <a:endParaRPr/>
          </a:p>
        </p:txBody>
      </p:sp>
      <p:sp>
        <p:nvSpPr>
          <p:cNvPr id="935" name="Google Shape;935;g3dab08d03cc_0_77"/>
          <p:cNvSpPr txBox="1"/>
          <p:nvPr/>
        </p:nvSpPr>
        <p:spPr>
          <a:xfrm>
            <a:off x="5494002" y="1410553"/>
            <a:ext cx="21600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57175" lvl="0" marL="257175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Standalone ML Models</a:t>
            </a:r>
            <a:endParaRPr/>
          </a:p>
        </p:txBody>
      </p:sp>
      <p:sp>
        <p:nvSpPr>
          <p:cNvPr id="936" name="Google Shape;936;g3dab08d03cc_0_77"/>
          <p:cNvSpPr txBox="1"/>
          <p:nvPr/>
        </p:nvSpPr>
        <p:spPr>
          <a:xfrm>
            <a:off x="5497602" y="2171798"/>
            <a:ext cx="21600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(SARIMAX + ML)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dab08d03cc_0_77"/>
          <p:cNvSpPr txBox="1"/>
          <p:nvPr/>
        </p:nvSpPr>
        <p:spPr>
          <a:xfrm>
            <a:off x="5497602" y="2966828"/>
            <a:ext cx="21600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ANN Model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8" name="Google Shape;938;g3dab08d03cc_0_77"/>
          <p:cNvSpPr txBox="1"/>
          <p:nvPr/>
        </p:nvSpPr>
        <p:spPr>
          <a:xfrm>
            <a:off x="5560907" y="3694289"/>
            <a:ext cx="21600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LSTM Model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9" name="Google Shape;939;g3dab08d03cc_0_77"/>
          <p:cNvSpPr txBox="1"/>
          <p:nvPr/>
        </p:nvSpPr>
        <p:spPr>
          <a:xfrm>
            <a:off x="1774048" y="1770232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Machine Learning</a:t>
            </a:r>
            <a:endParaRPr b="0" i="0" sz="15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940" name="Google Shape;940;g3dab08d03cc_0_77"/>
          <p:cNvSpPr txBox="1"/>
          <p:nvPr/>
        </p:nvSpPr>
        <p:spPr>
          <a:xfrm>
            <a:off x="1774048" y="3330113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Deep Learning</a:t>
            </a:r>
            <a:endParaRPr b="0" i="0" sz="15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cxnSp>
        <p:nvCxnSpPr>
          <p:cNvPr id="941" name="Google Shape;941;g3dab08d03cc_0_77"/>
          <p:cNvCxnSpPr/>
          <p:nvPr/>
        </p:nvCxnSpPr>
        <p:spPr>
          <a:xfrm flipH="1" rot="10800000">
            <a:off x="929873" y="1993012"/>
            <a:ext cx="844200" cy="7617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g3dab08d03cc_0_77"/>
          <p:cNvCxnSpPr/>
          <p:nvPr/>
        </p:nvCxnSpPr>
        <p:spPr>
          <a:xfrm>
            <a:off x="929873" y="2754712"/>
            <a:ext cx="844200" cy="8088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3" name="Google Shape;943;g3dab08d03cc_0_77"/>
          <p:cNvCxnSpPr/>
          <p:nvPr/>
        </p:nvCxnSpPr>
        <p:spPr>
          <a:xfrm flipH="1" rot="10800000">
            <a:off x="3937648" y="3159262"/>
            <a:ext cx="1556400" cy="3807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4" name="Google Shape;944;g3dab08d03cc_0_77"/>
          <p:cNvCxnSpPr/>
          <p:nvPr/>
        </p:nvCxnSpPr>
        <p:spPr>
          <a:xfrm>
            <a:off x="3871651" y="3552305"/>
            <a:ext cx="1689300" cy="3219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5" name="Google Shape;945;g3dab08d03cc_0_77"/>
          <p:cNvCxnSpPr/>
          <p:nvPr/>
        </p:nvCxnSpPr>
        <p:spPr>
          <a:xfrm>
            <a:off x="3773437" y="2023149"/>
            <a:ext cx="1689300" cy="3219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6" name="Google Shape;946;g3dab08d03cc_0_77"/>
          <p:cNvCxnSpPr/>
          <p:nvPr/>
        </p:nvCxnSpPr>
        <p:spPr>
          <a:xfrm flipH="1" rot="10800000">
            <a:off x="3801843" y="1598649"/>
            <a:ext cx="1632300" cy="4245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g3dab08d03cc_0_77"/>
          <p:cNvSpPr txBox="1"/>
          <p:nvPr>
            <p:ph idx="4294967295" type="title"/>
          </p:nvPr>
        </p:nvSpPr>
        <p:spPr>
          <a:xfrm>
            <a:off x="215925" y="2348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ab08d03cc_8_0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Machine Learning Approach</a:t>
            </a:r>
            <a:endParaRPr/>
          </a:p>
        </p:txBody>
      </p:sp>
      <p:sp>
        <p:nvSpPr>
          <p:cNvPr id="953" name="Google Shape;953;g3dab08d03cc_8_0"/>
          <p:cNvSpPr txBox="1"/>
          <p:nvPr>
            <p:ph idx="4294967295" type="title"/>
          </p:nvPr>
        </p:nvSpPr>
        <p:spPr>
          <a:xfrm>
            <a:off x="215925" y="2348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pic>
        <p:nvPicPr>
          <p:cNvPr id="954" name="Google Shape;954;g3dab08d03cc_8_0"/>
          <p:cNvPicPr preferRelativeResize="0"/>
          <p:nvPr/>
        </p:nvPicPr>
        <p:blipFill rotWithShape="1">
          <a:blip r:embed="rId3">
            <a:alphaModFix/>
          </a:blip>
          <a:srcRect b="6857" l="7138" r="6342" t="20816"/>
          <a:stretch/>
        </p:blipFill>
        <p:spPr>
          <a:xfrm>
            <a:off x="776650" y="1254600"/>
            <a:ext cx="7421201" cy="3211174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g3dab08d03cc_8_0"/>
          <p:cNvSpPr/>
          <p:nvPr/>
        </p:nvSpPr>
        <p:spPr>
          <a:xfrm>
            <a:off x="636625" y="3849700"/>
            <a:ext cx="665100" cy="877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dab08d03cc_8_1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Deep Learning Approach</a:t>
            </a:r>
            <a:endParaRPr/>
          </a:p>
        </p:txBody>
      </p:sp>
      <p:sp>
        <p:nvSpPr>
          <p:cNvPr id="961" name="Google Shape;961;g3dab08d03cc_8_15"/>
          <p:cNvSpPr txBox="1"/>
          <p:nvPr>
            <p:ph idx="4294967295" type="title"/>
          </p:nvPr>
        </p:nvSpPr>
        <p:spPr>
          <a:xfrm>
            <a:off x="215925" y="2348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pic>
        <p:nvPicPr>
          <p:cNvPr id="962" name="Google Shape;962;g3dab08d03cc_8_15"/>
          <p:cNvPicPr preferRelativeResize="0"/>
          <p:nvPr/>
        </p:nvPicPr>
        <p:blipFill rotWithShape="1">
          <a:blip r:embed="rId3">
            <a:alphaModFix/>
          </a:blip>
          <a:srcRect b="6825" l="9715" r="8305" t="19786"/>
          <a:stretch/>
        </p:blipFill>
        <p:spPr>
          <a:xfrm>
            <a:off x="843725" y="1017725"/>
            <a:ext cx="7344227" cy="369840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g3dab08d03cc_8_15"/>
          <p:cNvSpPr/>
          <p:nvPr/>
        </p:nvSpPr>
        <p:spPr>
          <a:xfrm>
            <a:off x="7765775" y="4038825"/>
            <a:ext cx="665100" cy="877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dab08d03cc_8_90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Machine Learning Results</a:t>
            </a:r>
            <a:endParaRPr/>
          </a:p>
        </p:txBody>
      </p:sp>
      <p:sp>
        <p:nvSpPr>
          <p:cNvPr id="969" name="Google Shape;969;g3dab08d03cc_8_90"/>
          <p:cNvSpPr txBox="1"/>
          <p:nvPr>
            <p:ph idx="4294967295" type="title"/>
          </p:nvPr>
        </p:nvSpPr>
        <p:spPr>
          <a:xfrm>
            <a:off x="215925" y="2348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sp>
        <p:nvSpPr>
          <p:cNvPr id="970" name="Google Shape;970;g3dab08d03cc_8_90"/>
          <p:cNvSpPr/>
          <p:nvPr/>
        </p:nvSpPr>
        <p:spPr>
          <a:xfrm>
            <a:off x="636625" y="3849700"/>
            <a:ext cx="665100" cy="877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1" name="Google Shape;971;g3dab08d03cc_8_90"/>
          <p:cNvSpPr txBox="1"/>
          <p:nvPr/>
        </p:nvSpPr>
        <p:spPr>
          <a:xfrm>
            <a:off x="636625" y="1514525"/>
            <a:ext cx="77085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Hybrid models underperformed standalone ML models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Error propagation between stages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972" name="Google Shape;972;g3dab08d03cc_8_90"/>
          <p:cNvPicPr preferRelativeResize="0"/>
          <p:nvPr/>
        </p:nvPicPr>
        <p:blipFill rotWithShape="1">
          <a:blip r:embed="rId3">
            <a:alphaModFix/>
          </a:blip>
          <a:srcRect b="24062" l="1532" r="53814" t="49385"/>
          <a:stretch/>
        </p:blipFill>
        <p:spPr>
          <a:xfrm>
            <a:off x="1119176" y="2255750"/>
            <a:ext cx="7184348" cy="24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dab08d03cc_8_110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Deep Learning Results</a:t>
            </a:r>
            <a:endParaRPr/>
          </a:p>
        </p:txBody>
      </p:sp>
      <p:sp>
        <p:nvSpPr>
          <p:cNvPr id="978" name="Google Shape;978;g3dab08d03cc_8_110"/>
          <p:cNvSpPr txBox="1"/>
          <p:nvPr>
            <p:ph idx="4294967295" type="title"/>
          </p:nvPr>
        </p:nvSpPr>
        <p:spPr>
          <a:xfrm>
            <a:off x="215925" y="2348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  <p:sp>
        <p:nvSpPr>
          <p:cNvPr id="979" name="Google Shape;979;g3dab08d03cc_8_110"/>
          <p:cNvSpPr/>
          <p:nvPr/>
        </p:nvSpPr>
        <p:spPr>
          <a:xfrm>
            <a:off x="636625" y="3849700"/>
            <a:ext cx="665100" cy="877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80" name="Google Shape;980;g3dab08d03cc_8_110"/>
          <p:cNvSpPr txBox="1"/>
          <p:nvPr/>
        </p:nvSpPr>
        <p:spPr>
          <a:xfrm>
            <a:off x="7015025" y="1704625"/>
            <a:ext cx="17745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ANN &gt; LSTM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Limited data (~4,000 observations)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Lag features captured temporal structure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981" name="Google Shape;981;g3dab08d03cc_8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49" y="1239919"/>
            <a:ext cx="6849200" cy="31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g3d98845a964_2_1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058" r="26058" t="0"/>
          <a:stretch/>
        </p:blipFill>
        <p:spPr>
          <a:xfrm>
            <a:off x="4494052" y="1"/>
            <a:ext cx="4649948" cy="51434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7" name="Google Shape;987;g3d98845a964_2_160"/>
          <p:cNvSpPr txBox="1"/>
          <p:nvPr>
            <p:ph type="title"/>
          </p:nvPr>
        </p:nvSpPr>
        <p:spPr>
          <a:xfrm>
            <a:off x="418163" y="1627438"/>
            <a:ext cx="319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Key Takeaways </a:t>
            </a:r>
            <a:endParaRPr/>
          </a:p>
        </p:txBody>
      </p:sp>
      <p:sp>
        <p:nvSpPr>
          <p:cNvPr id="988" name="Google Shape;988;g3d98845a964_2_160"/>
          <p:cNvSpPr txBox="1"/>
          <p:nvPr>
            <p:ph idx="1" type="subTitle"/>
          </p:nvPr>
        </p:nvSpPr>
        <p:spPr>
          <a:xfrm>
            <a:off x="418175" y="2325850"/>
            <a:ext cx="38976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Compared Traditional, ML and DL models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Consistent evaluation framework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ML performed strongly with engineered features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ANN outperformed LSTM on limited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g3d98845a964_2_160"/>
          <p:cNvSpPr txBox="1"/>
          <p:nvPr>
            <p:ph idx="4294967295" type="title"/>
          </p:nvPr>
        </p:nvSpPr>
        <p:spPr>
          <a:xfrm>
            <a:off x="215925" y="2348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e686cc3737_0_20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Elegant Black and White Thesis Defense</a:t>
            </a:r>
            <a:endParaRPr/>
          </a:p>
        </p:txBody>
      </p:sp>
      <p:sp>
        <p:nvSpPr>
          <p:cNvPr id="995" name="Google Shape;995;g3e686cc3737_0_20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Here is where your presentation begins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6" name="Google Shape;996;g3e686cc3737_0_20"/>
          <p:cNvSpPr/>
          <p:nvPr/>
        </p:nvSpPr>
        <p:spPr>
          <a:xfrm>
            <a:off x="0" y="9335"/>
            <a:ext cx="9144000" cy="5143500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e686cc3737_0_20"/>
          <p:cNvSpPr txBox="1"/>
          <p:nvPr/>
        </p:nvSpPr>
        <p:spPr>
          <a:xfrm>
            <a:off x="640080" y="411480"/>
            <a:ext cx="7863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Chapter </a:t>
            </a:r>
            <a:r>
              <a:rPr b="1" lang="en-US" sz="2700">
                <a:solidFill>
                  <a:srgbClr val="333333"/>
                </a:solidFill>
              </a:rPr>
              <a:t>4</a:t>
            </a:r>
            <a:r>
              <a:rPr b="1" i="0" lang="en-US" sz="2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700">
                <a:solidFill>
                  <a:srgbClr val="333333"/>
                </a:solidFill>
              </a:rPr>
              <a:t>Conclusion</a:t>
            </a:r>
            <a:endParaRPr/>
          </a:p>
        </p:txBody>
      </p:sp>
      <p:sp>
        <p:nvSpPr>
          <p:cNvPr id="998" name="Google Shape;998;g3e686cc3737_0_20"/>
          <p:cNvSpPr txBox="1"/>
          <p:nvPr/>
        </p:nvSpPr>
        <p:spPr>
          <a:xfrm>
            <a:off x="658368" y="1874519"/>
            <a:ext cx="12801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5400">
                <a:solidFill>
                  <a:srgbClr val="333333"/>
                </a:solidFill>
              </a:rPr>
              <a:t>4</a:t>
            </a:r>
            <a:endParaRPr/>
          </a:p>
        </p:txBody>
      </p:sp>
      <p:sp>
        <p:nvSpPr>
          <p:cNvPr id="999" name="Google Shape;999;g3e686cc3737_0_20"/>
          <p:cNvSpPr/>
          <p:nvPr/>
        </p:nvSpPr>
        <p:spPr>
          <a:xfrm>
            <a:off x="2057400" y="2240280"/>
            <a:ext cx="5303400" cy="321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g3e686cc3737_0_20"/>
          <p:cNvSpPr txBox="1"/>
          <p:nvPr/>
        </p:nvSpPr>
        <p:spPr>
          <a:xfrm>
            <a:off x="2026693" y="2370508"/>
            <a:ext cx="6141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600">
                <a:solidFill>
                  <a:srgbClr val="777777"/>
                </a:solidFill>
              </a:rPr>
              <a:t>Overall</a:t>
            </a:r>
            <a:r>
              <a:rPr lang="en-US" sz="1600">
                <a:solidFill>
                  <a:srgbClr val="777777"/>
                </a:solidFill>
              </a:rPr>
              <a:t> Comparison Between All Models</a:t>
            </a:r>
            <a:endParaRPr/>
          </a:p>
        </p:txBody>
      </p:sp>
      <p:sp>
        <p:nvSpPr>
          <p:cNvPr id="1001" name="Google Shape;1001;g3e686cc3737_0_20"/>
          <p:cNvSpPr/>
          <p:nvPr/>
        </p:nvSpPr>
        <p:spPr>
          <a:xfrm>
            <a:off x="2372950" y="3313050"/>
            <a:ext cx="1845900" cy="97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Findings</a:t>
            </a:r>
            <a:endParaRPr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1002" name="Google Shape;1002;g3e686cc3737_0_20"/>
          <p:cNvSpPr/>
          <p:nvPr/>
        </p:nvSpPr>
        <p:spPr>
          <a:xfrm>
            <a:off x="5012675" y="3313050"/>
            <a:ext cx="1845900" cy="97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Limitations</a:t>
            </a:r>
            <a:endParaRPr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d98845a964_8_318"/>
          <p:cNvSpPr txBox="1"/>
          <p:nvPr>
            <p:ph type="title"/>
          </p:nvPr>
        </p:nvSpPr>
        <p:spPr>
          <a:xfrm>
            <a:off x="1180875" y="370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Overall Model Performance</a:t>
            </a:r>
            <a:endParaRPr/>
          </a:p>
        </p:txBody>
      </p:sp>
      <p:graphicFrame>
        <p:nvGraphicFramePr>
          <p:cNvPr id="1008" name="Google Shape;1008;g3d98845a964_8_318"/>
          <p:cNvGraphicFramePr/>
          <p:nvPr/>
        </p:nvGraphicFramePr>
        <p:xfrm>
          <a:off x="508000" y="119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{4D4F94EF-05E0-43E9-A048-7E0F66738DE5}</a:tableStyleId>
              </a:tblPr>
              <a:tblGrid>
                <a:gridCol w="2794000"/>
                <a:gridCol w="1333500"/>
                <a:gridCol w="1333500"/>
                <a:gridCol w="1333500"/>
                <a:gridCol w="13335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MAE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RMSE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MAPE (%)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Gradient Boosting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8,776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11,591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2.37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0.9072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LightGBM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8,847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11,546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2.40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0.90</a:t>
                      </a:r>
                      <a:r>
                        <a:rPr b="1" lang="en-US" sz="1000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79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XGBoost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8,795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11,585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2.38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0.9073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SARIMAX + XGBoost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9,792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17,371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2.64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0.79</a:t>
                      </a:r>
                      <a:r>
                        <a:rPr lang="en-US" sz="10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10,500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13,936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2.84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0.86</a:t>
                      </a:r>
                      <a:r>
                        <a:rPr lang="en-US" sz="10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59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SARIMAX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11,326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15,753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2.99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0.8280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ANN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11,447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19,065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9.05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0.7743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LSTM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12,884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21,681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9.54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0.7081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 / Ridge / Lasso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~14,150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~18,590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~3.73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~0.762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SARIMA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14,267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19,809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3.78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0.7290</a:t>
                      </a:r>
                      <a:endParaRPr/>
                    </a:p>
                  </a:txBody>
                  <a:tcPr marT="26450" marB="264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9" name="Google Shape;1009;g3d98845a964_8_318"/>
          <p:cNvSpPr txBox="1"/>
          <p:nvPr>
            <p:ph idx="4294967295" type="title"/>
          </p:nvPr>
        </p:nvSpPr>
        <p:spPr>
          <a:xfrm>
            <a:off x="240675" y="238575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d98845a964_8_324"/>
          <p:cNvSpPr txBox="1"/>
          <p:nvPr>
            <p:ph type="title"/>
          </p:nvPr>
        </p:nvSpPr>
        <p:spPr>
          <a:xfrm>
            <a:off x="1202425" y="370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015" name="Google Shape;1015;g3d98845a964_8_324"/>
          <p:cNvSpPr txBox="1"/>
          <p:nvPr>
            <p:ph idx="1" type="body"/>
          </p:nvPr>
        </p:nvSpPr>
        <p:spPr>
          <a:xfrm>
            <a:off x="720000" y="1124550"/>
            <a:ext cx="77040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17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Tree-based ensembles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are the best fit for NSW day-ahead demand.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lang="en-US" sz="1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lowest average error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Gradient Boosting (lowest MAE).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lang="en-US" sz="1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minimise large misses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LightGBM (lowest RMSE).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g3d98845a964_8_324"/>
          <p:cNvSpPr txBox="1"/>
          <p:nvPr>
            <p:ph idx="4294967295" type="title"/>
          </p:nvPr>
        </p:nvSpPr>
        <p:spPr>
          <a:xfrm>
            <a:off x="240675" y="238575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7" name="Google Shape;1017;g3d98845a964_8_324"/>
          <p:cNvSpPr/>
          <p:nvPr/>
        </p:nvSpPr>
        <p:spPr>
          <a:xfrm>
            <a:off x="1083025" y="3668950"/>
            <a:ext cx="119400" cy="4941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323232"/>
          </a:solidFill>
          <a:ln cap="flat" cmpd="sng" w="9525">
            <a:solidFill>
              <a:srgbClr val="3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8" name="Google Shape;1018;g3d98845a964_8_324"/>
          <p:cNvSpPr txBox="1"/>
          <p:nvPr/>
        </p:nvSpPr>
        <p:spPr>
          <a:xfrm>
            <a:off x="720000" y="2946950"/>
            <a:ext cx="77040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Bigger picture: 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within 1% of each other on MAE</a:t>
            </a:r>
            <a:r>
              <a:rPr lang="en-US" sz="1100"/>
              <a:t> </a:t>
            </a:r>
            <a:endParaRPr sz="1100"/>
          </a:p>
          <a:p>
            <a:pPr indent="0" lvl="0" marL="457200" rtl="0" algn="l">
              <a:lnSpc>
                <a:spcPct val="2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>
                <a:solidFill>
                  <a:srgbClr val="C00000"/>
                </a:solidFill>
              </a:rPr>
              <a:t>feature design</a:t>
            </a:r>
            <a:r>
              <a:rPr lang="en-US" sz="1500">
                <a:solidFill>
                  <a:schemeClr val="dk1"/>
                </a:solidFill>
              </a:rPr>
              <a:t> matters more than further algorithm switching.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d98845a964_8_329"/>
          <p:cNvSpPr txBox="1"/>
          <p:nvPr>
            <p:ph idx="1" type="body"/>
          </p:nvPr>
        </p:nvSpPr>
        <p:spPr>
          <a:xfrm>
            <a:off x="720000" y="1539475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Gap between industrial use.(R² </a:t>
            </a:r>
            <a:r>
              <a:rPr lang="en-US" sz="1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AEMO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~</a:t>
            </a:r>
            <a:r>
              <a:rPr lang="en-US" sz="1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0.9989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en-US" sz="1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ours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~</a:t>
            </a:r>
            <a:r>
              <a:rPr lang="en-US" sz="1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0.9079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Limited feature set.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Point forecasts only.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200000"/>
              </a:lnSpc>
              <a:spcBef>
                <a:spcPts val="200"/>
              </a:spcBef>
              <a:spcAft>
                <a:spcPts val="100"/>
              </a:spcAft>
              <a:buSzPts val="8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Unable to obtain real-time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temperature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data.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3d98845a964_8_329"/>
          <p:cNvSpPr txBox="1"/>
          <p:nvPr>
            <p:ph type="title"/>
          </p:nvPr>
        </p:nvSpPr>
        <p:spPr>
          <a:xfrm>
            <a:off x="1300200" y="39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Limitation</a:t>
            </a:r>
            <a:endParaRPr/>
          </a:p>
        </p:txBody>
      </p:sp>
      <p:sp>
        <p:nvSpPr>
          <p:cNvPr id="1025" name="Google Shape;1025;g3d98845a964_8_329"/>
          <p:cNvSpPr txBox="1"/>
          <p:nvPr>
            <p:ph idx="4294967295" type="title"/>
          </p:nvPr>
        </p:nvSpPr>
        <p:spPr>
          <a:xfrm>
            <a:off x="240675" y="238575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d98845a964_8_883"/>
          <p:cNvSpPr txBox="1"/>
          <p:nvPr>
            <p:ph type="title"/>
          </p:nvPr>
        </p:nvSpPr>
        <p:spPr>
          <a:xfrm>
            <a:off x="1167300" y="2467000"/>
            <a:ext cx="48687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Q&amp;A TIME</a:t>
            </a:r>
            <a:endParaRPr sz="7200"/>
          </a:p>
        </p:txBody>
      </p:sp>
      <p:sp>
        <p:nvSpPr>
          <p:cNvPr id="1031" name="Google Shape;1031;g3d98845a964_8_883"/>
          <p:cNvSpPr txBox="1"/>
          <p:nvPr>
            <p:ph type="title"/>
          </p:nvPr>
        </p:nvSpPr>
        <p:spPr>
          <a:xfrm>
            <a:off x="1204197" y="1678850"/>
            <a:ext cx="3367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000"/>
              <a:t>Thank you!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2026-04-25T09:42:35Z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D05F41E7348A48FBB25092B29C345377_13</vt:lpwstr>
  </property>
</Properties>
</file>